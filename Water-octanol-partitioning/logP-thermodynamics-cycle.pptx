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058" autoAdjust="0"/>
  </p:normalViewPr>
  <p:slideViewPr>
    <p:cSldViewPr snapToGrid="0">
      <p:cViewPr varScale="1">
        <p:scale>
          <a:sx n="88" d="100"/>
          <a:sy n="88" d="100"/>
        </p:scale>
        <p:origin x="1434" y="84"/>
      </p:cViewPr>
      <p:guideLst/>
    </p:cSldViewPr>
  </p:slideViewPr>
  <p:notesTextViewPr>
    <p:cViewPr>
      <p:scale>
        <a:sx n="1" d="1"/>
        <a:sy n="1" d="1"/>
      </p:scale>
      <p:origin x="0" y="-108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193616-CD17-4EDB-8F7E-F4A7369F4193}" type="datetimeFigureOut">
              <a:rPr lang="en-FI" smtClean="0"/>
              <a:t>20/12/2025</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6973DE-6E76-4AAE-8734-B9E0797EA8DC}" type="slidenum">
              <a:rPr lang="en-FI" smtClean="0"/>
              <a:t>‹#›</a:t>
            </a:fld>
            <a:endParaRPr lang="en-FI"/>
          </a:p>
        </p:txBody>
      </p:sp>
    </p:spTree>
    <p:extLst>
      <p:ext uri="{BB962C8B-B14F-4D97-AF65-F5344CB8AC3E}">
        <p14:creationId xmlns:p14="http://schemas.microsoft.com/office/powerpoint/2010/main" val="935843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In thermodynamics, a state function </a:t>
                </a:r>
                <a:r>
                  <a:rPr lang="en-GB" sz="1200" b="0" i="0" kern="1200" dirty="0">
                    <a:solidFill>
                      <a:schemeClr val="tx1"/>
                    </a:solidFill>
                    <a:effectLst/>
                    <a:latin typeface="+mn-lt"/>
                    <a:ea typeface="+mn-ea"/>
                    <a:cs typeface="+mn-cs"/>
                  </a:rPr>
                  <a:t>(or state variable) is </a:t>
                </a:r>
                <a:r>
                  <a:rPr lang="en-GB" dirty="0"/>
                  <a:t>a property of a system that depends </a:t>
                </a:r>
                <a:r>
                  <a:rPr lang="en-GB" i="1" dirty="0">
                    <a:effectLst/>
                  </a:rPr>
                  <a:t>only</a:t>
                </a:r>
                <a:r>
                  <a:rPr lang="en-GB" dirty="0"/>
                  <a:t> on its current condition (state), not on the path taken to reach that state. As solvation free energy is a state function,</a:t>
                </a:r>
                <a:r>
                  <a:rPr lang="en-GB" baseline="0" dirty="0"/>
                  <a:t> </a:t>
                </a:r>
                <a:r>
                  <a:rPr lang="en-GB" dirty="0"/>
                  <a:t>the computation of drug molecule</a:t>
                </a:r>
                <a:r>
                  <a:rPr lang="en-GB" baseline="0" dirty="0"/>
                  <a:t>’s w</a:t>
                </a:r>
                <a:r>
                  <a:rPr lang="en-GB" dirty="0"/>
                  <a:t>ater or octanol solvation free energy (</a:t>
                </a:r>
                <a14:m>
                  <m:oMath xmlns:m="http://schemas.openxmlformats.org/officeDocument/2006/math">
                    <m:sSub>
                      <m:sSubPr>
                        <m:ctrlPr>
                          <a:rPr lang="ar-AE" sz="1200" b="0" i="1" kern="120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b="0"/>
                          <m:t>sol</m:t>
                        </m:r>
                        <m:r>
                          <m:rPr>
                            <m:nor/>
                          </m:rPr>
                          <a:rPr lang="en-GB" b="0" i="0" smtClean="0"/>
                          <m:t>vation</m:t>
                        </m:r>
                      </m:sub>
                    </m:sSub>
                  </m:oMath>
                </a14:m>
                <a:r>
                  <a:rPr lang="en-GB" b="0" dirty="0">
                    <a:effectLst/>
                  </a:rPr>
                  <a:t>),</a:t>
                </a:r>
                <a:r>
                  <a:rPr lang="en-GB" b="0" baseline="0" dirty="0">
                    <a:effectLst/>
                  </a:rPr>
                  <a:t> which correspond to the introduction of drug into water/octanol environment can be achieved using the thermodynamics cycle above:</a:t>
                </a:r>
              </a:p>
              <a:p>
                <a:endParaRPr lang="en-GB" b="0" baseline="0" dirty="0">
                  <a:effectLst/>
                </a:endParaRPr>
              </a:p>
              <a:p>
                <a:r>
                  <a:rPr lang="en-GB" b="0" baseline="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b="0"/>
                          <m:t>sol</m:t>
                        </m:r>
                        <m:r>
                          <m:rPr>
                            <m:nor/>
                          </m:rPr>
                          <a:rPr lang="en-GB" b="0" i="0" smtClean="0"/>
                          <m:t>vation</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2</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dirty="0">
                    <a:effectLst/>
                  </a:rPr>
                  <a:t> = 0 =&gt;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b="0"/>
                          <m:t>sol</m:t>
                        </m:r>
                        <m:r>
                          <m:rPr>
                            <m:nor/>
                          </m:rPr>
                          <a:rPr lang="en-GB" b="0" i="0" smtClean="0"/>
                          <m:t>vation</m:t>
                        </m:r>
                      </m:sub>
                    </m:sSub>
                  </m:oMath>
                </a14:m>
                <a:r>
                  <a:rPr lang="en-GB" b="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dirty="0">
                    <a:effectLst/>
                  </a:rPr>
                  <a:t> -</a:t>
                </a:r>
                <a:r>
                  <a:rPr lang="en-GB" b="0" baseline="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sub>
                    </m:sSub>
                  </m:oMath>
                </a14:m>
                <a:r>
                  <a:rPr lang="en-GB" b="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2</m:t>
                        </m:r>
                      </m:sub>
                    </m:sSub>
                  </m:oMath>
                </a14:m>
                <a:r>
                  <a:rPr lang="en-GB" b="0" dirty="0">
                    <a:effectLst/>
                  </a:rPr>
                  <a:t> = 0)</a:t>
                </a:r>
              </a:p>
              <a:p>
                <a:endParaRPr lang="en-GB" b="0" dirty="0">
                  <a:effectLst/>
                </a:endParaRPr>
              </a:p>
              <a:p>
                <a:r>
                  <a:rPr lang="en-GB" b="0" dirty="0">
                    <a:effectLst/>
                  </a:rPr>
                  <a:t>In the context of this research, by setting “couple-</a:t>
                </a:r>
                <a:r>
                  <a:rPr lang="en-GB" b="0" dirty="0" err="1">
                    <a:effectLst/>
                  </a:rPr>
                  <a:t>intramol</a:t>
                </a:r>
                <a:r>
                  <a:rPr lang="en-GB" b="0" dirty="0">
                    <a:effectLst/>
                  </a:rPr>
                  <a:t> = yes”, we turned off the intramolecular electrostatics + </a:t>
                </a:r>
                <a:r>
                  <a:rPr lang="en-GB" b="0" dirty="0" err="1">
                    <a:effectLst/>
                  </a:rPr>
                  <a:t>vdw</a:t>
                </a:r>
                <a:r>
                  <a:rPr lang="en-GB" b="0" dirty="0">
                    <a:effectLst/>
                  </a:rPr>
                  <a:t> interactions in the same degree as turning off the electrostatics + </a:t>
                </a:r>
                <a:r>
                  <a:rPr lang="en-GB" b="0" dirty="0" err="1">
                    <a:effectLst/>
                  </a:rPr>
                  <a:t>vdw</a:t>
                </a:r>
                <a:r>
                  <a:rPr lang="en-GB" b="0" dirty="0">
                    <a:effectLst/>
                  </a:rPr>
                  <a:t> of drug with the surrounding environment. Hence, when both the electrostatics + </a:t>
                </a:r>
                <a:r>
                  <a:rPr lang="en-GB" b="0" dirty="0" err="1">
                    <a:effectLst/>
                  </a:rPr>
                  <a:t>vdw</a:t>
                </a:r>
                <a:r>
                  <a:rPr lang="en-GB" b="0" dirty="0">
                    <a:effectLst/>
                  </a:rPr>
                  <a:t> interactions are totally off, it does not </a:t>
                </a:r>
                <a:r>
                  <a:rPr lang="en-GB" b="0" dirty="0" err="1">
                    <a:effectLst/>
                  </a:rPr>
                  <a:t>trully</a:t>
                </a:r>
                <a:r>
                  <a:rPr lang="en-GB" b="0" dirty="0">
                    <a:effectLst/>
                  </a:rPr>
                  <a:t> represent the drug molecule when in vacuum state. Instead, we called that state is like “Dummies in vacuum”. The two sub-folder “Water_hydration-in-parallel-abcg2_gaff2” and “Octanol_hydration-in-parallel-abcg2_gaff2” represent the transformation of drug molecule when in water and octanol solvents, respectively to the state when its all nonbonded interactions are off (“Dummies in vacuum, that what we called). The outcome numbers from “Water_hydration-in-parallel-abcg2_gaff2” and “Octanol_hydration-in-parallel-abcg2_gaff2” represents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r>
                          <a:rPr lang="en-GB" sz="1200" b="0" i="1" kern="1200" smtClean="0">
                            <a:solidFill>
                              <a:schemeClr val="tx1"/>
                            </a:solidFill>
                            <a:effectLst/>
                            <a:latin typeface="Cambria Math" panose="02040503050406030204" pitchFamily="18" charset="0"/>
                            <a:ea typeface="+mn-ea"/>
                            <a:cs typeface="+mn-cs"/>
                          </a:rPr>
                          <m:t> (</m:t>
                        </m:r>
                        <m:r>
                          <a:rPr lang="en-GB" sz="1200" b="0" i="1" kern="1200" smtClean="0">
                            <a:solidFill>
                              <a:schemeClr val="tx1"/>
                            </a:solidFill>
                            <a:effectLst/>
                            <a:latin typeface="Cambria Math" panose="02040503050406030204" pitchFamily="18" charset="0"/>
                            <a:ea typeface="+mn-ea"/>
                            <a:cs typeface="+mn-cs"/>
                          </a:rPr>
                          <m:t>𝑊</m:t>
                        </m:r>
                        <m:r>
                          <a:rPr lang="en-GB" sz="1200" b="0" i="1" kern="1200" smtClean="0">
                            <a:solidFill>
                              <a:schemeClr val="tx1"/>
                            </a:solidFill>
                            <a:effectLst/>
                            <a:latin typeface="Cambria Math" panose="02040503050406030204" pitchFamily="18" charset="0"/>
                            <a:ea typeface="+mn-ea"/>
                            <a:cs typeface="+mn-cs"/>
                          </a:rPr>
                          <m:t>)</m:t>
                        </m:r>
                      </m:sub>
                    </m:sSub>
                  </m:oMath>
                </a14:m>
                <a:r>
                  <a:rPr lang="en-GB" b="0" dirty="0">
                    <a:effectLst/>
                  </a:rPr>
                  <a:t> and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r>
                          <a:rPr lang="en-GB" sz="1200" b="0" i="1" kern="1200" smtClean="0">
                            <a:solidFill>
                              <a:schemeClr val="tx1"/>
                            </a:solidFill>
                            <a:effectLst/>
                            <a:latin typeface="Cambria Math" panose="02040503050406030204" pitchFamily="18" charset="0"/>
                            <a:ea typeface="+mn-ea"/>
                            <a:cs typeface="+mn-cs"/>
                          </a:rPr>
                          <m:t> </m:t>
                        </m:r>
                        <m:d>
                          <m:dPr>
                            <m:ctrlPr>
                              <a:rPr lang="en-GB" sz="1200" b="0" i="1" kern="1200" smtClean="0">
                                <a:solidFill>
                                  <a:schemeClr val="tx1"/>
                                </a:solidFill>
                                <a:effectLst/>
                                <a:latin typeface="Cambria Math" panose="02040503050406030204" pitchFamily="18" charset="0"/>
                                <a:ea typeface="+mn-ea"/>
                                <a:cs typeface="+mn-cs"/>
                              </a:rPr>
                            </m:ctrlPr>
                          </m:dPr>
                          <m:e>
                            <m:r>
                              <a:rPr lang="en-GB" sz="1200" b="0" i="1" kern="1200" smtClean="0">
                                <a:solidFill>
                                  <a:schemeClr val="tx1"/>
                                </a:solidFill>
                                <a:effectLst/>
                                <a:latin typeface="Cambria Math" panose="02040503050406030204" pitchFamily="18" charset="0"/>
                                <a:ea typeface="+mn-ea"/>
                                <a:cs typeface="+mn-cs"/>
                              </a:rPr>
                              <m:t>𝑂𝑐𝑡</m:t>
                            </m:r>
                          </m:e>
                        </m:d>
                      </m:sub>
                    </m:sSub>
                  </m:oMath>
                </a14:m>
                <a:r>
                  <a:rPr lang="en-GB" b="0" dirty="0">
                    <a:effectLst/>
                  </a:rPr>
                  <a:t> in the thermodynamics cycle above. To achieve</a:t>
                </a:r>
                <a:r>
                  <a:rPr lang="en-GB" b="0" baseline="0" dirty="0">
                    <a:effectLst/>
                  </a:rPr>
                  <a:t> truly water and octanol solvation free energy, another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r>
                          <a:rPr lang="en-GB" sz="1200" b="0" i="1" kern="1200" smtClean="0">
                            <a:solidFill>
                              <a:schemeClr val="tx1"/>
                            </a:solidFill>
                            <a:effectLst/>
                            <a:latin typeface="Cambria Math" panose="02040503050406030204" pitchFamily="18" charset="0"/>
                            <a:ea typeface="+mn-ea"/>
                            <a:cs typeface="+mn-cs"/>
                          </a:rPr>
                          <m:t> </m:t>
                        </m:r>
                      </m:sub>
                    </m:sSub>
                  </m:oMath>
                </a14:m>
                <a:r>
                  <a:rPr lang="en-GB" b="0" dirty="0">
                    <a:effectLst/>
                  </a:rPr>
                  <a:t>need to be</a:t>
                </a:r>
                <a:r>
                  <a:rPr lang="en-GB" b="0" baseline="0" dirty="0">
                    <a:effectLst/>
                  </a:rPr>
                  <a:t> computed. However, in the context of calculating </a:t>
                </a:r>
                <a:r>
                  <a:rPr lang="en-GB" b="0" baseline="0" dirty="0" err="1">
                    <a:effectLst/>
                  </a:rPr>
                  <a:t>logP</a:t>
                </a:r>
                <a:r>
                  <a:rPr lang="en-GB" b="0" baseline="0" dirty="0">
                    <a:effectLst/>
                  </a:rPr>
                  <a:t> value of drug molecule, this computation is not necessary.</a:t>
                </a:r>
              </a:p>
              <a:p>
                <a:endParaRPr lang="en-GB" b="0" baseline="0" dirty="0">
                  <a:effectLst/>
                </a:endParaRPr>
              </a:p>
              <a:p>
                <a:r>
                  <a:rPr lang="en-GB" b="0" baseline="0" dirty="0">
                    <a:effectLst/>
                  </a:rPr>
                  <a:t>To compute </a:t>
                </a:r>
                <a:r>
                  <a:rPr lang="en-GB" b="0" baseline="0" dirty="0" err="1">
                    <a:effectLst/>
                  </a:rPr>
                  <a:t>logP</a:t>
                </a:r>
                <a:r>
                  <a:rPr lang="en-GB" b="0" baseline="0" dirty="0">
                    <a:effectLst/>
                  </a:rPr>
                  <a:t> of drug molecule, we need to compute ΔG of water hydration free energy - ΔG of octanol solvent free energy (please refer to README document attached in this folder for full explanation),</a:t>
                </a:r>
              </a:p>
              <a:p>
                <a:endParaRPr lang="en-GB" b="0" baseline="0" dirty="0">
                  <a:effectLst/>
                </a:endParaRPr>
              </a:p>
              <a:p>
                <a:r>
                  <a:rPr lang="en-GB" b="0" baseline="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water</m:t>
                        </m:r>
                        <m:r>
                          <m:rPr>
                            <m:nor/>
                          </m:rPr>
                          <a:rPr lang="en-GB" sz="1200" b="0" i="0" kern="1200" smtClean="0">
                            <a:solidFill>
                              <a:schemeClr val="tx1"/>
                            </a:solidFill>
                            <a:effectLst/>
                            <a:latin typeface="Cambria Math" panose="02040503050406030204" pitchFamily="18" charset="0"/>
                            <a:ea typeface="+mn-ea"/>
                            <a:cs typeface="+mn-cs"/>
                          </a:rPr>
                          <m:t> </m:t>
                        </m:r>
                        <m:r>
                          <m:rPr>
                            <m:nor/>
                          </m:rPr>
                          <a:rPr lang="en-GB" b="0"/>
                          <m:t>sol</m:t>
                        </m:r>
                        <m:r>
                          <m:rPr>
                            <m:nor/>
                          </m:rPr>
                          <a:rPr lang="en-GB" b="0" i="0" smtClean="0"/>
                          <m:t>vation</m:t>
                        </m:r>
                      </m:sub>
                    </m:sSub>
                  </m:oMath>
                </a14:m>
                <a:r>
                  <a:rPr lang="en-GB" b="0" baseline="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octanol</m:t>
                        </m:r>
                        <m:r>
                          <m:rPr>
                            <m:nor/>
                          </m:rPr>
                          <a:rPr lang="en-GB" sz="1200" b="0" i="0" kern="1200" smtClean="0">
                            <a:solidFill>
                              <a:schemeClr val="tx1"/>
                            </a:solidFill>
                            <a:effectLst/>
                            <a:latin typeface="Cambria Math" panose="02040503050406030204" pitchFamily="18" charset="0"/>
                            <a:ea typeface="+mn-ea"/>
                            <a:cs typeface="+mn-cs"/>
                          </a:rPr>
                          <m:t> </m:t>
                        </m:r>
                        <m:r>
                          <m:rPr>
                            <m:nor/>
                          </m:rPr>
                          <a:rPr lang="en-GB" b="0"/>
                          <m:t>sol</m:t>
                        </m:r>
                        <m:r>
                          <m:rPr>
                            <m:nor/>
                          </m:rPr>
                          <a:rPr lang="en-GB" b="0" i="0" smtClean="0"/>
                          <m:t>vation</m:t>
                        </m:r>
                      </m:sub>
                    </m:sSub>
                  </m:oMath>
                </a14:m>
                <a:r>
                  <a:rPr lang="en-GB" b="0" baseline="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dirty="0">
                    <a:effectLst/>
                  </a:rPr>
                  <a:t> -</a:t>
                </a:r>
                <a:r>
                  <a:rPr lang="en-GB" b="0" baseline="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r>
                          <a:rPr lang="en-GB" sz="1200" b="0" i="1" kern="1200" smtClean="0">
                            <a:solidFill>
                              <a:schemeClr val="tx1"/>
                            </a:solidFill>
                            <a:effectLst/>
                            <a:latin typeface="Cambria Math" panose="02040503050406030204" pitchFamily="18" charset="0"/>
                            <a:ea typeface="+mn-ea"/>
                            <a:cs typeface="+mn-cs"/>
                          </a:rPr>
                          <m:t> (</m:t>
                        </m:r>
                        <m:r>
                          <a:rPr lang="en-GB" sz="1200" b="0" i="1" kern="1200" smtClean="0">
                            <a:solidFill>
                              <a:schemeClr val="tx1"/>
                            </a:solidFill>
                            <a:effectLst/>
                            <a:latin typeface="Cambria Math" panose="02040503050406030204" pitchFamily="18" charset="0"/>
                            <a:ea typeface="+mn-ea"/>
                            <a:cs typeface="+mn-cs"/>
                          </a:rPr>
                          <m:t>𝑊</m:t>
                        </m:r>
                        <m:r>
                          <a:rPr lang="en-GB" sz="1200" b="0" i="1" kern="1200" smtClean="0">
                            <a:solidFill>
                              <a:schemeClr val="tx1"/>
                            </a:solidFill>
                            <a:effectLst/>
                            <a:latin typeface="Cambria Math" panose="02040503050406030204" pitchFamily="18" charset="0"/>
                            <a:ea typeface="+mn-ea"/>
                            <a:cs typeface="+mn-cs"/>
                          </a:rPr>
                          <m:t>)</m:t>
                        </m:r>
                      </m:sub>
                    </m:sSub>
                  </m:oMath>
                </a14:m>
                <a:r>
                  <a:rPr lang="en-GB" b="0" baseline="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dirty="0">
                    <a:effectLst/>
                  </a:rPr>
                  <a:t> -</a:t>
                </a:r>
                <a:r>
                  <a:rPr lang="en-GB" b="0" baseline="0" dirty="0">
                    <a:effectLst/>
                  </a:rPr>
                  <a:t>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r>
                          <a:rPr lang="en-GB" sz="1200" b="0" i="1" kern="1200" smtClean="0">
                            <a:solidFill>
                              <a:schemeClr val="tx1"/>
                            </a:solidFill>
                            <a:effectLst/>
                            <a:latin typeface="Cambria Math" panose="02040503050406030204" pitchFamily="18" charset="0"/>
                            <a:ea typeface="+mn-ea"/>
                            <a:cs typeface="+mn-cs"/>
                          </a:rPr>
                          <m:t> (</m:t>
                        </m:r>
                        <m:r>
                          <a:rPr lang="en-GB" sz="1200" b="0" i="1" kern="1200" smtClean="0">
                            <a:solidFill>
                              <a:schemeClr val="tx1"/>
                            </a:solidFill>
                            <a:effectLst/>
                            <a:latin typeface="Cambria Math" panose="02040503050406030204" pitchFamily="18" charset="0"/>
                            <a:ea typeface="+mn-ea"/>
                            <a:cs typeface="+mn-cs"/>
                          </a:rPr>
                          <m:t>𝑂𝑐𝑡</m:t>
                        </m:r>
                        <m:r>
                          <a:rPr lang="en-GB" sz="1200" b="0" i="1" kern="1200" smtClean="0">
                            <a:solidFill>
                              <a:schemeClr val="tx1"/>
                            </a:solidFill>
                            <a:effectLst/>
                            <a:latin typeface="Cambria Math" panose="02040503050406030204" pitchFamily="18" charset="0"/>
                            <a:ea typeface="+mn-ea"/>
                            <a:cs typeface="+mn-cs"/>
                          </a:rPr>
                          <m:t>)</m:t>
                        </m:r>
                      </m:sub>
                    </m:sSub>
                  </m:oMath>
                </a14:m>
                <a:r>
                  <a:rPr lang="en-GB" b="0" baseline="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r>
                          <a:rPr lang="en-GB" sz="1200" b="0" i="1" kern="1200" smtClean="0">
                            <a:solidFill>
                              <a:schemeClr val="tx1"/>
                            </a:solidFill>
                            <a:effectLst/>
                            <a:latin typeface="Cambria Math" panose="02040503050406030204" pitchFamily="18" charset="0"/>
                            <a:ea typeface="+mn-ea"/>
                            <a:cs typeface="+mn-cs"/>
                          </a:rPr>
                          <m:t> (</m:t>
                        </m:r>
                        <m:r>
                          <a:rPr lang="en-GB" sz="1200" b="0" i="1" kern="1200" smtClean="0">
                            <a:solidFill>
                              <a:schemeClr val="tx1"/>
                            </a:solidFill>
                            <a:effectLst/>
                            <a:latin typeface="Cambria Math" panose="02040503050406030204" pitchFamily="18" charset="0"/>
                            <a:ea typeface="+mn-ea"/>
                            <a:cs typeface="+mn-cs"/>
                          </a:rPr>
                          <m:t>𝑂𝑐𝑡</m:t>
                        </m:r>
                        <m:r>
                          <a:rPr lang="en-GB" sz="1200" b="0" i="1" kern="1200" smtClean="0">
                            <a:solidFill>
                              <a:schemeClr val="tx1"/>
                            </a:solidFill>
                            <a:effectLst/>
                            <a:latin typeface="Cambria Math" panose="02040503050406030204" pitchFamily="18" charset="0"/>
                            <a:ea typeface="+mn-ea"/>
                            <a:cs typeface="+mn-cs"/>
                          </a:rPr>
                          <m:t>)</m:t>
                        </m:r>
                      </m:sub>
                    </m:sSub>
                  </m:oMath>
                </a14:m>
                <a:r>
                  <a:rPr lang="en-GB" b="0" baseline="0" dirty="0">
                    <a:effectLst/>
                  </a:rPr>
                  <a:t> -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3</m:t>
                        </m:r>
                        <m:r>
                          <a:rPr lang="en-GB" sz="1200" b="0" i="1" kern="1200" smtClean="0">
                            <a:solidFill>
                              <a:schemeClr val="tx1"/>
                            </a:solidFill>
                            <a:effectLst/>
                            <a:latin typeface="Cambria Math" panose="02040503050406030204" pitchFamily="18" charset="0"/>
                            <a:ea typeface="+mn-ea"/>
                            <a:cs typeface="+mn-cs"/>
                          </a:rPr>
                          <m:t> (</m:t>
                        </m:r>
                        <m:r>
                          <a:rPr lang="en-GB" sz="1200" b="0" i="1" kern="1200" smtClean="0">
                            <a:solidFill>
                              <a:schemeClr val="tx1"/>
                            </a:solidFill>
                            <a:effectLst/>
                            <a:latin typeface="Cambria Math" panose="02040503050406030204" pitchFamily="18" charset="0"/>
                            <a:ea typeface="+mn-ea"/>
                            <a:cs typeface="+mn-cs"/>
                          </a:rPr>
                          <m:t>𝑊</m:t>
                        </m:r>
                        <m:r>
                          <a:rPr lang="en-GB" sz="1200" b="0" i="1" kern="1200" smtClean="0">
                            <a:solidFill>
                              <a:schemeClr val="tx1"/>
                            </a:solidFill>
                            <a:effectLst/>
                            <a:latin typeface="Cambria Math" panose="02040503050406030204" pitchFamily="18" charset="0"/>
                            <a:ea typeface="+mn-ea"/>
                            <a:cs typeface="+mn-cs"/>
                          </a:rPr>
                          <m:t>)</m:t>
                        </m:r>
                      </m:sub>
                    </m:sSub>
                  </m:oMath>
                </a14:m>
                <a:r>
                  <a:rPr lang="en-GB" b="0" baseline="0" dirty="0">
                    <a:effectLst/>
                  </a:rPr>
                  <a:t> (as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sz="1200" b="0" i="0" kern="1200" smtClean="0">
                            <a:solidFill>
                              <a:schemeClr val="tx1"/>
                            </a:solidFill>
                            <a:effectLst/>
                            <a:latin typeface="Cambria Math" panose="02040503050406030204" pitchFamily="18" charset="0"/>
                            <a:ea typeface="+mn-ea"/>
                            <a:cs typeface="+mn-cs"/>
                          </a:rPr>
                          <m:t>1</m:t>
                        </m:r>
                      </m:sub>
                    </m:sSub>
                  </m:oMath>
                </a14:m>
                <a:r>
                  <a:rPr lang="en-GB" b="0" baseline="0" dirty="0">
                    <a:effectLst/>
                  </a:rPr>
                  <a:t> cancelling out each other).</a:t>
                </a:r>
              </a:p>
              <a:p>
                <a:r>
                  <a:rPr lang="en-GB" b="0" baseline="0" dirty="0">
                    <a:effectLst/>
                  </a:rPr>
                  <a:t>				= (-82.77) - (-106.48) = 23.71 (kJ/mol)</a:t>
                </a:r>
              </a:p>
              <a:p>
                <a:endParaRPr lang="en-GB" b="0" baseline="0" dirty="0">
                  <a:effectLst/>
                </a:endParaRPr>
              </a:p>
              <a:p>
                <a:r>
                  <a:rPr lang="en-GB" b="0" baseline="0" dirty="0" err="1">
                    <a:effectLst/>
                  </a:rPr>
                  <a:t>logP</a:t>
                </a:r>
                <a:r>
                  <a:rPr lang="en-GB" b="0" baseline="0" dirty="0">
                    <a:effectLst/>
                  </a:rPr>
                  <a:t> = 23.71 / 5.708 (value of RTln10 in kJ/mol) = ~ 4.154</a:t>
                </a:r>
              </a:p>
              <a:p>
                <a:endParaRPr lang="en-GB" b="0" baseline="0" dirty="0">
                  <a:effectLst/>
                </a:endParaRPr>
              </a:p>
              <a:p>
                <a:endParaRPr lang="en-GB" b="0" baseline="0" dirty="0">
                  <a:effectLst/>
                </a:endParaRPr>
              </a:p>
              <a:p>
                <a:r>
                  <a:rPr lang="en-GB" b="0" baseline="0" dirty="0">
                    <a:effectLst/>
                  </a:rPr>
                  <a:t>Note: setting </a:t>
                </a:r>
                <a:r>
                  <a:rPr lang="en-GB" b="0" dirty="0">
                    <a:effectLst/>
                  </a:rPr>
                  <a:t>“couple-</a:t>
                </a:r>
                <a:r>
                  <a:rPr lang="en-GB" b="0" dirty="0" err="1">
                    <a:effectLst/>
                  </a:rPr>
                  <a:t>intramol</a:t>
                </a:r>
                <a:r>
                  <a:rPr lang="en-GB" b="0" dirty="0">
                    <a:effectLst/>
                  </a:rPr>
                  <a:t> = no” will allow us to directly compute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b="0"/>
                          <m:t>sol</m:t>
                        </m:r>
                        <m:r>
                          <m:rPr>
                            <m:nor/>
                          </m:rPr>
                          <a:rPr lang="en-GB" b="0" i="0" smtClean="0"/>
                          <m:t>vation</m:t>
                        </m:r>
                      </m:sub>
                    </m:sSub>
                  </m:oMath>
                </a14:m>
                <a:r>
                  <a:rPr lang="en-GB" b="0" baseline="0" dirty="0">
                    <a:effectLst/>
                  </a:rPr>
                  <a:t>. In this research, we can not directly compute </a:t>
                </a:r>
                <a14:m>
                  <m:oMath xmlns:m="http://schemas.openxmlformats.org/officeDocument/2006/math">
                    <m:sSub>
                      <m:sSubPr>
                        <m:ctrlPr>
                          <a:rPr lang="ar-AE" sz="1200" b="0" i="1" kern="1200" smtClean="0">
                            <a:solidFill>
                              <a:schemeClr val="tx1"/>
                            </a:solidFill>
                            <a:latin typeface="Cambria Math" panose="02040503050406030204" pitchFamily="18" charset="0"/>
                            <a:ea typeface="+mn-ea"/>
                            <a:cs typeface="+mn-cs"/>
                          </a:rPr>
                        </m:ctrlPr>
                      </m:sSubPr>
                      <m:e>
                        <m:r>
                          <m:rPr>
                            <m:nor/>
                          </m:rPr>
                          <a:rPr lang="el-GR" sz="1200" b="0" i="0" kern="1200" smtClean="0">
                            <a:solidFill>
                              <a:schemeClr val="tx1"/>
                            </a:solidFill>
                            <a:effectLst/>
                            <a:latin typeface="+mn-lt"/>
                            <a:ea typeface="+mn-ea"/>
                            <a:cs typeface="+mn-cs"/>
                          </a:rPr>
                          <m:t>Δ</m:t>
                        </m:r>
                        <m:r>
                          <m:rPr>
                            <m:nor/>
                          </m:rPr>
                          <a:rPr lang="en-GB" sz="1200" b="0" i="0" kern="1200" smtClean="0">
                            <a:solidFill>
                              <a:schemeClr val="tx1"/>
                            </a:solidFill>
                            <a:effectLst/>
                            <a:latin typeface="+mn-lt"/>
                            <a:ea typeface="+mn-ea"/>
                            <a:cs typeface="+mn-cs"/>
                          </a:rPr>
                          <m:t>G</m:t>
                        </m:r>
                      </m:e>
                      <m:sub>
                        <m:r>
                          <m:rPr>
                            <m:nor/>
                          </m:rPr>
                          <a:rPr lang="en-GB" b="0"/>
                          <m:t>sol</m:t>
                        </m:r>
                        <m:r>
                          <m:rPr>
                            <m:nor/>
                          </m:rPr>
                          <a:rPr lang="en-GB" b="0" i="0" smtClean="0"/>
                          <m:t>vation</m:t>
                        </m:r>
                      </m:sub>
                    </m:sSub>
                  </m:oMath>
                </a14:m>
                <a:r>
                  <a:rPr lang="en-GB" b="0" baseline="0" dirty="0">
                    <a:effectLst/>
                  </a:rPr>
                  <a:t> mainly because the size of researched drug molecule is pretty much big for not decoupling intramolecular non-bonded interactions. </a:t>
                </a:r>
                <a:r>
                  <a:rPr lang="en-GB" sz="1200" b="0" i="0" kern="1200" dirty="0">
                    <a:solidFill>
                      <a:schemeClr val="tx1"/>
                    </a:solidFill>
                    <a:effectLst/>
                    <a:latin typeface="+mn-lt"/>
                    <a:ea typeface="+mn-ea"/>
                    <a:cs typeface="+mn-cs"/>
                  </a:rPr>
                  <a:t>Setting "couple-</a:t>
                </a:r>
                <a:r>
                  <a:rPr lang="en-GB" sz="1200" b="0" i="0" kern="1200" dirty="0" err="1">
                    <a:solidFill>
                      <a:schemeClr val="tx1"/>
                    </a:solidFill>
                    <a:effectLst/>
                    <a:latin typeface="+mn-lt"/>
                    <a:ea typeface="+mn-ea"/>
                    <a:cs typeface="+mn-cs"/>
                  </a:rPr>
                  <a:t>intramol</a:t>
                </a:r>
                <a:r>
                  <a:rPr lang="en-GB" sz="1200" b="0" i="0" kern="1200" dirty="0">
                    <a:solidFill>
                      <a:schemeClr val="tx1"/>
                    </a:solidFill>
                    <a:effectLst/>
                    <a:latin typeface="+mn-lt"/>
                    <a:ea typeface="+mn-ea"/>
                    <a:cs typeface="+mn-cs"/>
                  </a:rPr>
                  <a:t> = yes" is useful for larger molecules that may have intramolecular interactions </a:t>
                </a:r>
                <a:r>
                  <a:rPr lang="en-GB" sz="1200" b="0" i="0" kern="1200" dirty="0" err="1">
                    <a:solidFill>
                      <a:schemeClr val="tx1"/>
                    </a:solidFill>
                    <a:effectLst/>
                    <a:latin typeface="+mn-lt"/>
                    <a:ea typeface="+mn-ea"/>
                    <a:cs typeface="+mn-cs"/>
                  </a:rPr>
                  <a:t>occuring</a:t>
                </a:r>
                <a:r>
                  <a:rPr lang="en-GB" sz="1200" b="0" i="0" kern="1200" dirty="0">
                    <a:solidFill>
                      <a:schemeClr val="tx1"/>
                    </a:solidFill>
                    <a:effectLst/>
                    <a:latin typeface="+mn-lt"/>
                    <a:ea typeface="+mn-ea"/>
                    <a:cs typeface="+mn-cs"/>
                  </a:rPr>
                  <a:t> at longer distance. Otherwise, distal parts of the molecule will interact via explicit pair interactions in an unnaturally strong manner (since solute-solvent interactions are weakened as a function of λ, but the intramolecular terms would not be), giving rise to configurations that will incorrectly bias the resulting </a:t>
                </a:r>
                <a:r>
                  <a:rPr lang="en-GB" sz="1200" b="0" i="0" kern="1200">
                    <a:solidFill>
                      <a:schemeClr val="tx1"/>
                    </a:solidFill>
                    <a:effectLst/>
                    <a:latin typeface="+mn-lt"/>
                    <a:ea typeface="+mn-ea"/>
                    <a:cs typeface="+mn-cs"/>
                  </a:rPr>
                  <a:t>free energy.</a:t>
                </a:r>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r>
                  <a:rPr lang="en-GB" b="0" baseline="0" dirty="0">
                    <a:effectLst/>
                  </a:rPr>
                  <a:t>	</a:t>
                </a:r>
                <a:endParaRPr lang="en-GB" b="0" dirty="0">
                  <a:effectLst/>
                </a:endParaRPr>
              </a:p>
              <a:p>
                <a:endParaRPr lang="en-GB" b="0" dirty="0">
                  <a:effectLst/>
                </a:endParaRPr>
              </a:p>
              <a:p>
                <a:endParaRPr lang="en-GB" b="0" dirty="0">
                  <a:effectLst/>
                </a:endParaRPr>
              </a:p>
              <a:p>
                <a:endParaRPr lang="en-GB" b="0" dirty="0">
                  <a:effectLst/>
                </a:endParaRPr>
              </a:p>
              <a:p>
                <a:endParaRPr lang="en-GB" b="0" dirty="0">
                  <a:effectLst/>
                </a:endParaRPr>
              </a:p>
              <a:p>
                <a:endParaRPr lang="en-GB" sz="1200" b="0" i="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GB" dirty="0"/>
                  <a:t>In thermodynamics, a state function </a:t>
                </a:r>
                <a:r>
                  <a:rPr lang="en-GB" sz="1200" b="0" i="0" kern="1200" dirty="0">
                    <a:solidFill>
                      <a:schemeClr val="tx1"/>
                    </a:solidFill>
                    <a:effectLst/>
                    <a:latin typeface="+mn-lt"/>
                    <a:ea typeface="+mn-ea"/>
                    <a:cs typeface="+mn-cs"/>
                  </a:rPr>
                  <a:t>(or state variable) is </a:t>
                </a:r>
                <a:r>
                  <a:rPr lang="en-GB" dirty="0"/>
                  <a:t>a property of a system that depends </a:t>
                </a:r>
                <a:r>
                  <a:rPr lang="en-GB" i="1" dirty="0">
                    <a:effectLst/>
                  </a:rPr>
                  <a:t>only</a:t>
                </a:r>
                <a:r>
                  <a:rPr lang="en-GB" dirty="0"/>
                  <a:t> on its current condition (state), not on the path taken to reach that state. As solvation free energy is a state function,</a:t>
                </a:r>
                <a:r>
                  <a:rPr lang="en-GB" baseline="0" dirty="0"/>
                  <a:t> </a:t>
                </a:r>
                <a:r>
                  <a:rPr lang="en-GB" dirty="0"/>
                  <a:t>the computation of drug molecule</a:t>
                </a:r>
                <a:r>
                  <a:rPr lang="en-GB" baseline="0" dirty="0"/>
                  <a:t>’s w</a:t>
                </a:r>
                <a:r>
                  <a:rPr lang="en-GB" dirty="0"/>
                  <a:t>ater or octanol solvation free energy (</a:t>
                </a:r>
                <a:r>
                  <a:rPr lang="ar-AE" sz="1200" b="0" i="0" kern="1200">
                    <a:solidFill>
                      <a:schemeClr val="tx1"/>
                    </a:solidFill>
                    <a:latin typeface="+mn-lt"/>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ar-AE" sz="1200" b="0" i="0" kern="1200">
                    <a:solidFill>
                      <a:schemeClr val="tx1"/>
                    </a:solidFill>
                    <a:effectLst/>
                    <a:latin typeface="+mn-lt"/>
                    <a:ea typeface="+mn-ea"/>
                    <a:cs typeface="+mn-cs"/>
                  </a:rPr>
                  <a:t>" 〗_</a:t>
                </a:r>
                <a:r>
                  <a:rPr lang="en-GB" sz="1200" b="0" i="0" kern="1200">
                    <a:solidFill>
                      <a:schemeClr val="tx1"/>
                    </a:solidFill>
                    <a:effectLst/>
                    <a:latin typeface="+mn-lt"/>
                    <a:ea typeface="+mn-ea"/>
                    <a:cs typeface="+mn-cs"/>
                  </a:rPr>
                  <a:t>"</a:t>
                </a:r>
                <a:r>
                  <a:rPr lang="en-GB" b="0" i="0"/>
                  <a:t>solvation</a:t>
                </a:r>
                <a:r>
                  <a:rPr lang="ar-AE" sz="1200" b="0" i="0" kern="1200">
                    <a:solidFill>
                      <a:schemeClr val="tx1"/>
                    </a:solidFill>
                    <a:latin typeface="+mn-lt"/>
                    <a:ea typeface="+mn-ea"/>
                    <a:cs typeface="+mn-cs"/>
                  </a:rPr>
                  <a:t>" </a:t>
                </a:r>
                <a:r>
                  <a:rPr lang="en-GB" b="0" dirty="0">
                    <a:effectLst/>
                  </a:rPr>
                  <a:t>),</a:t>
                </a:r>
                <a:r>
                  <a:rPr lang="en-GB" b="0" baseline="0" dirty="0">
                    <a:effectLst/>
                  </a:rPr>
                  <a:t> which correspond to the introduction of drug into water/octanol environment can be achieved using the thermodynamics cycle above:</a:t>
                </a:r>
              </a:p>
              <a:p>
                <a:endParaRPr lang="en-GB" b="0" baseline="0" dirty="0">
                  <a:effectLst/>
                </a:endParaRPr>
              </a:p>
              <a:p>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a:t>
                </a:r>
                <a:r>
                  <a:rPr lang="en-GB" b="0" i="0"/>
                  <a:t>solvation</a:t>
                </a:r>
                <a:r>
                  <a:rPr lang="en-GB" b="0" i="0">
                    <a:latin typeface="Cambria Math" panose="02040503050406030204" pitchFamily="18" charset="0"/>
                  </a:rPr>
                  <a:t>"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"2"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 0 =&gt;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a:t>
                </a:r>
                <a:r>
                  <a:rPr lang="en-GB" b="0" i="0"/>
                  <a:t>solvation</a:t>
                </a:r>
                <a:r>
                  <a:rPr lang="en-GB" b="0" i="0">
                    <a:latin typeface="Cambria Math" panose="02040503050406030204" pitchFamily="18" charset="0"/>
                  </a:rPr>
                  <a:t>" </a:t>
                </a:r>
                <a:r>
                  <a:rPr lang="en-GB" b="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a:t>
                </a:r>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a:t>
                </a:r>
                <a:r>
                  <a:rPr lang="en-GB" b="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"2" </a:t>
                </a:r>
                <a:r>
                  <a:rPr lang="en-GB" b="0" dirty="0">
                    <a:effectLst/>
                  </a:rPr>
                  <a:t> = 0)</a:t>
                </a:r>
              </a:p>
              <a:p>
                <a:endParaRPr lang="en-GB" b="0" dirty="0">
                  <a:effectLst/>
                </a:endParaRPr>
              </a:p>
              <a:p>
                <a:r>
                  <a:rPr lang="en-GB" b="0" dirty="0">
                    <a:effectLst/>
                  </a:rPr>
                  <a:t>In the context of this research, by setting “couple-</a:t>
                </a:r>
                <a:r>
                  <a:rPr lang="en-GB" b="0" dirty="0" err="1">
                    <a:effectLst/>
                  </a:rPr>
                  <a:t>intramol</a:t>
                </a:r>
                <a:r>
                  <a:rPr lang="en-GB" b="0" dirty="0">
                    <a:effectLst/>
                  </a:rPr>
                  <a:t> = yes”, we turned off the intramolecular electrostatics + </a:t>
                </a:r>
                <a:r>
                  <a:rPr lang="en-GB" b="0" dirty="0" err="1">
                    <a:effectLst/>
                  </a:rPr>
                  <a:t>vdw</a:t>
                </a:r>
                <a:r>
                  <a:rPr lang="en-GB" b="0" dirty="0">
                    <a:effectLst/>
                  </a:rPr>
                  <a:t> interactions in the same degree as turning off the electrostatics + </a:t>
                </a:r>
                <a:r>
                  <a:rPr lang="en-GB" b="0" dirty="0" err="1">
                    <a:effectLst/>
                  </a:rPr>
                  <a:t>vdw</a:t>
                </a:r>
                <a:r>
                  <a:rPr lang="en-GB" b="0" dirty="0">
                    <a:effectLst/>
                  </a:rPr>
                  <a:t> of drug with the surrounding environment. Hence, when both the electrostatics + </a:t>
                </a:r>
                <a:r>
                  <a:rPr lang="en-GB" b="0" dirty="0" err="1">
                    <a:effectLst/>
                  </a:rPr>
                  <a:t>vdw</a:t>
                </a:r>
                <a:r>
                  <a:rPr lang="en-GB" b="0" dirty="0">
                    <a:effectLst/>
                  </a:rPr>
                  <a:t> interactions are totally off, it does not </a:t>
                </a:r>
                <a:r>
                  <a:rPr lang="en-GB" b="0" dirty="0" err="1">
                    <a:effectLst/>
                  </a:rPr>
                  <a:t>trully</a:t>
                </a:r>
                <a:r>
                  <a:rPr lang="en-GB" b="0" dirty="0">
                    <a:effectLst/>
                  </a:rPr>
                  <a:t> represent the drug molecule when in vacuum state. Instead, we called that state is like “Dummies in vacuum”. The two sub-folder “Water_hydration-in-parallel-abcg2_gaff2” and “Octanol_hydration-in-parallel-abcg2_gaff2” represent the transformation of drug molecule when in water and octanol solvents, respectively to the state when its all nonbonded interactions are off (“Dummies in vacuum, that what we called). The outcome numbers from “Water_hydration-in-parallel-abcg2_gaff2” and “Octanol_hydration-in-parallel-abcg2_gaff2” represents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(𝑊)</a:t>
                </a:r>
                <a:r>
                  <a:rPr lang="ar-AE" sz="1200" b="0" i="0" kern="1200">
                    <a:solidFill>
                      <a:schemeClr val="tx1"/>
                    </a:solidFill>
                    <a:effectLst/>
                    <a:latin typeface="Cambria Math" panose="02040503050406030204" pitchFamily="18" charset="0"/>
                    <a:ea typeface="+mn-ea"/>
                    <a:cs typeface="+mn-cs"/>
                  </a:rPr>
                  <a:t>)</a:t>
                </a:r>
                <a:r>
                  <a:rPr lang="en-GB" b="0" dirty="0">
                    <a:effectLst/>
                  </a:rPr>
                  <a:t> and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(𝑂𝑐𝑡) </a:t>
                </a:r>
                <a:r>
                  <a:rPr lang="ar-AE" sz="1200" b="0" i="0" kern="1200">
                    <a:solidFill>
                      <a:schemeClr val="tx1"/>
                    </a:solidFill>
                    <a:effectLst/>
                    <a:latin typeface="Cambria Math" panose="02040503050406030204" pitchFamily="18" charset="0"/>
                    <a:ea typeface="+mn-ea"/>
                    <a:cs typeface="+mn-cs"/>
                  </a:rPr>
                  <a:t>)</a:t>
                </a:r>
                <a:r>
                  <a:rPr lang="en-GB" b="0" dirty="0">
                    <a:effectLst/>
                  </a:rPr>
                  <a:t> in the thermodynamics cycle above. To achieve</a:t>
                </a:r>
                <a:r>
                  <a:rPr lang="en-GB" b="0" baseline="0" dirty="0">
                    <a:effectLst/>
                  </a:rPr>
                  <a:t> truly water and octanol solvation free energy, another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ar-AE" sz="1200" b="0" i="0" kern="1200">
                    <a:solidFill>
                      <a:schemeClr val="tx1"/>
                    </a:solidFill>
                    <a:effectLst/>
                    <a:latin typeface="Cambria Math" panose="02040503050406030204" pitchFamily="18" charset="0"/>
                    <a:ea typeface="+mn-ea"/>
                    <a:cs typeface="+mn-cs"/>
                  </a:rPr>
                  <a:t>)</a:t>
                </a:r>
                <a:r>
                  <a:rPr lang="en-GB" b="0" dirty="0">
                    <a:effectLst/>
                  </a:rPr>
                  <a:t>need to be</a:t>
                </a:r>
                <a:r>
                  <a:rPr lang="en-GB" b="0" baseline="0" dirty="0">
                    <a:effectLst/>
                  </a:rPr>
                  <a:t> computed. However, in the context of calculating </a:t>
                </a:r>
                <a:r>
                  <a:rPr lang="en-GB" b="0" baseline="0" dirty="0" err="1">
                    <a:effectLst/>
                  </a:rPr>
                  <a:t>logP</a:t>
                </a:r>
                <a:r>
                  <a:rPr lang="en-GB" b="0" baseline="0" dirty="0">
                    <a:effectLst/>
                  </a:rPr>
                  <a:t> value of drug molecule, this computation is not necessary.</a:t>
                </a:r>
              </a:p>
              <a:p>
                <a:endParaRPr lang="en-GB" b="0" baseline="0" dirty="0">
                  <a:effectLst/>
                </a:endParaRPr>
              </a:p>
              <a:p>
                <a:r>
                  <a:rPr lang="en-GB" b="0" baseline="0" dirty="0">
                    <a:effectLst/>
                  </a:rPr>
                  <a:t>To compute </a:t>
                </a:r>
                <a:r>
                  <a:rPr lang="en-GB" b="0" baseline="0" dirty="0" err="1">
                    <a:effectLst/>
                  </a:rPr>
                  <a:t>logP</a:t>
                </a:r>
                <a:r>
                  <a:rPr lang="en-GB" b="0" baseline="0" dirty="0">
                    <a:effectLst/>
                  </a:rPr>
                  <a:t> of drug molecule, we need to compute ΔG of water hydration free energy - ΔG of octanol solvent free energy (please refer to README document attached in this folder for full explanation),</a:t>
                </a:r>
              </a:p>
              <a:p>
                <a:endParaRPr lang="en-GB" b="0" baseline="0" dirty="0">
                  <a:effectLst/>
                </a:endParaRPr>
              </a:p>
              <a:p>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"water </a:t>
                </a:r>
                <a:r>
                  <a:rPr lang="en-GB" b="0" i="0"/>
                  <a:t>solvation</a:t>
                </a:r>
                <a:r>
                  <a:rPr lang="en-GB" b="0" i="0">
                    <a:latin typeface="Cambria Math" panose="02040503050406030204" pitchFamily="18" charset="0"/>
                  </a:rPr>
                  <a:t>" </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"octanol </a:t>
                </a:r>
                <a:r>
                  <a:rPr lang="en-GB" b="0" i="0"/>
                  <a:t>solvation</a:t>
                </a:r>
                <a:r>
                  <a:rPr lang="en-GB" b="0" i="0">
                    <a:latin typeface="Cambria Math" panose="02040503050406030204" pitchFamily="18" charset="0"/>
                  </a:rPr>
                  <a:t>" </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a:t>
                </a:r>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(𝑊)</a:t>
                </a:r>
                <a:r>
                  <a:rPr lang="ar-AE" sz="1200" b="0" i="0" kern="1200">
                    <a:solidFill>
                      <a:schemeClr val="tx1"/>
                    </a:solidFill>
                    <a:effectLst/>
                    <a:latin typeface="Cambria Math" panose="02040503050406030204" pitchFamily="18" charset="0"/>
                    <a:ea typeface="+mn-ea"/>
                    <a:cs typeface="+mn-cs"/>
                  </a:rPr>
                  <a:t>)</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dirty="0">
                    <a:effectLst/>
                  </a:rPr>
                  <a:t> -</a:t>
                </a:r>
                <a:r>
                  <a:rPr lang="en-GB" b="0" baseline="0" dirty="0">
                    <a:effectLst/>
                  </a:rPr>
                  <a:t>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(𝑂𝑐𝑡)</a:t>
                </a:r>
                <a:r>
                  <a:rPr lang="ar-AE" sz="1200" b="0" i="0" kern="1200">
                    <a:solidFill>
                      <a:schemeClr val="tx1"/>
                    </a:solidFill>
                    <a:effectLst/>
                    <a:latin typeface="Cambria Math" panose="02040503050406030204" pitchFamily="18" charset="0"/>
                    <a:ea typeface="+mn-ea"/>
                    <a:cs typeface="+mn-cs"/>
                  </a:rPr>
                  <a:t>)</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(𝑂𝑐𝑡)</a:t>
                </a:r>
                <a:r>
                  <a:rPr lang="ar-AE" sz="1200" b="0" i="0" kern="1200">
                    <a:solidFill>
                      <a:schemeClr val="tx1"/>
                    </a:solidFill>
                    <a:effectLst/>
                    <a:latin typeface="Cambria Math" panose="02040503050406030204" pitchFamily="18" charset="0"/>
                    <a:ea typeface="+mn-ea"/>
                    <a:cs typeface="+mn-cs"/>
                  </a:rPr>
                  <a:t>)</a:t>
                </a:r>
                <a:r>
                  <a:rPr lang="en-GB" b="0" baseline="0" dirty="0">
                    <a:effectLst/>
                  </a:rPr>
                  <a:t> -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"3"  (𝑊)</a:t>
                </a:r>
                <a:r>
                  <a:rPr lang="ar-AE" sz="1200" b="0" i="0" kern="1200">
                    <a:solidFill>
                      <a:schemeClr val="tx1"/>
                    </a:solidFill>
                    <a:effectLst/>
                    <a:latin typeface="Cambria Math" panose="02040503050406030204" pitchFamily="18" charset="0"/>
                    <a:ea typeface="+mn-ea"/>
                    <a:cs typeface="+mn-cs"/>
                  </a:rPr>
                  <a:t>)</a:t>
                </a:r>
                <a:r>
                  <a:rPr lang="en-GB" b="0" baseline="0" dirty="0">
                    <a:effectLst/>
                  </a:rPr>
                  <a:t> (as </a:t>
                </a:r>
                <a:r>
                  <a:rPr lang="ar-AE" sz="1200" b="0" i="0" kern="1200">
                    <a:solidFill>
                      <a:schemeClr val="tx1"/>
                    </a:solidFill>
                    <a:latin typeface="Cambria Math" panose="02040503050406030204" pitchFamily="18" charset="0"/>
                    <a:ea typeface="+mn-ea"/>
                    <a:cs typeface="+mn-cs"/>
                  </a:rPr>
                  <a:t>〖</a:t>
                </a:r>
                <a:r>
                  <a:rPr lang="el-GR" sz="1200" b="0" i="0" kern="1200">
                    <a:solidFill>
                      <a:schemeClr val="tx1"/>
                    </a:solidFill>
                    <a:effectLst/>
                    <a:latin typeface="+mn-lt"/>
                    <a:ea typeface="+mn-ea"/>
                    <a:cs typeface="+mn-cs"/>
                  </a:rPr>
                  <a:t>"Δ</a:t>
                </a:r>
                <a:r>
                  <a:rPr lang="en-GB" sz="1200" b="0" i="0" kern="1200">
                    <a:solidFill>
                      <a:schemeClr val="tx1"/>
                    </a:solidFill>
                    <a:effectLst/>
                    <a:latin typeface="+mn-lt"/>
                    <a:ea typeface="+mn-ea"/>
                    <a:cs typeface="+mn-cs"/>
                  </a:rPr>
                  <a:t>G</a:t>
                </a:r>
                <a:r>
                  <a:rPr lang="en-GB" sz="1200" b="0" i="0" kern="1200">
                    <a:solidFill>
                      <a:schemeClr val="tx1"/>
                    </a:solidFill>
                    <a:effectLst/>
                    <a:latin typeface="Cambria Math" panose="02040503050406030204" pitchFamily="18" charset="0"/>
                    <a:ea typeface="+mn-ea"/>
                    <a:cs typeface="+mn-cs"/>
                  </a:rPr>
                  <a:t>" </a:t>
                </a:r>
                <a:r>
                  <a:rPr lang="ar-AE" sz="1200" b="0" i="0" kern="1200">
                    <a:solidFill>
                      <a:schemeClr val="tx1"/>
                    </a:solidFill>
                    <a:effectLst/>
                    <a:latin typeface="Cambria Math" panose="02040503050406030204" pitchFamily="18" charset="0"/>
                    <a:ea typeface="+mn-ea"/>
                    <a:cs typeface="+mn-cs"/>
                  </a:rPr>
                  <a:t>〗_</a:t>
                </a:r>
                <a:r>
                  <a:rPr lang="en-GB" sz="1200" b="0" i="0" kern="1200">
                    <a:solidFill>
                      <a:schemeClr val="tx1"/>
                    </a:solidFill>
                    <a:effectLst/>
                    <a:latin typeface="Cambria Math" panose="02040503050406030204" pitchFamily="18" charset="0"/>
                    <a:ea typeface="+mn-ea"/>
                    <a:cs typeface="+mn-cs"/>
                  </a:rPr>
                  <a:t>"1" </a:t>
                </a:r>
                <a:r>
                  <a:rPr lang="en-GB" b="0" baseline="0" dirty="0">
                    <a:effectLst/>
                  </a:rPr>
                  <a:t> cancelling out each other).</a:t>
                </a:r>
              </a:p>
              <a:p>
                <a:r>
                  <a:rPr lang="en-GB" b="0" baseline="0" dirty="0">
                    <a:effectLst/>
                  </a:rPr>
                  <a:t>				= (-82.77) - (-106.48) = 23.71 (kJ/mol)</a:t>
                </a:r>
              </a:p>
              <a:p>
                <a:endParaRPr lang="en-GB" b="0" baseline="0" dirty="0">
                  <a:effectLst/>
                </a:endParaRPr>
              </a:p>
              <a:p>
                <a:endParaRPr lang="en-GB" b="0" baseline="0" dirty="0">
                  <a:effectLst/>
                </a:endParaRPr>
              </a:p>
              <a:p>
                <a:r>
                  <a:rPr lang="en-GB" b="0" baseline="0" dirty="0" err="1">
                    <a:effectLst/>
                  </a:rPr>
                  <a:t>logP</a:t>
                </a:r>
                <a:r>
                  <a:rPr lang="en-GB" b="0" baseline="0" dirty="0">
                    <a:effectLst/>
                  </a:rPr>
                  <a:t> = 23.71 / 5.708 (value of RTln10 in kJ</a:t>
                </a:r>
                <a:r>
                  <a:rPr lang="en-GB" b="0" baseline="0">
                    <a:effectLst/>
                  </a:rPr>
                  <a:t>/mol) = ~ 4.154</a:t>
                </a:r>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endParaRPr lang="en-GB" b="0" baseline="0" dirty="0">
                  <a:effectLst/>
                </a:endParaRPr>
              </a:p>
              <a:p>
                <a:r>
                  <a:rPr lang="en-GB" b="0" baseline="0" dirty="0">
                    <a:effectLst/>
                  </a:rPr>
                  <a:t>	</a:t>
                </a:r>
                <a:endParaRPr lang="en-GB" b="0" dirty="0">
                  <a:effectLst/>
                </a:endParaRPr>
              </a:p>
              <a:p>
                <a:endParaRPr lang="en-GB" b="0" dirty="0">
                  <a:effectLst/>
                </a:endParaRPr>
              </a:p>
              <a:p>
                <a:endParaRPr lang="en-GB" b="0" dirty="0">
                  <a:effectLst/>
                </a:endParaRPr>
              </a:p>
              <a:p>
                <a:endParaRPr lang="en-GB" b="0" dirty="0">
                  <a:effectLst/>
                </a:endParaRPr>
              </a:p>
              <a:p>
                <a:endParaRPr lang="en-GB" b="0" dirty="0">
                  <a:effectLst/>
                </a:endParaRPr>
              </a:p>
              <a:p>
                <a:endParaRPr lang="en-GB" sz="12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976973DE-6E76-4AAE-8734-B9E0797EA8DC}" type="slidenum">
              <a:rPr lang="en-FI" smtClean="0"/>
              <a:t>1</a:t>
            </a:fld>
            <a:endParaRPr lang="en-FI"/>
          </a:p>
        </p:txBody>
      </p:sp>
    </p:spTree>
    <p:extLst>
      <p:ext uri="{BB962C8B-B14F-4D97-AF65-F5344CB8AC3E}">
        <p14:creationId xmlns:p14="http://schemas.microsoft.com/office/powerpoint/2010/main" val="3080495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87DC3-EB63-A739-EFD2-44C4E0F85E7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I"/>
          </a:p>
        </p:txBody>
      </p:sp>
      <p:sp>
        <p:nvSpPr>
          <p:cNvPr id="3" name="Subtitle 2">
            <a:extLst>
              <a:ext uri="{FF2B5EF4-FFF2-40B4-BE49-F238E27FC236}">
                <a16:creationId xmlns:a16="http://schemas.microsoft.com/office/drawing/2014/main" id="{52E7D07C-EDCB-C794-577E-A311172807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I"/>
          </a:p>
        </p:txBody>
      </p:sp>
      <p:sp>
        <p:nvSpPr>
          <p:cNvPr id="4" name="Date Placeholder 3">
            <a:extLst>
              <a:ext uri="{FF2B5EF4-FFF2-40B4-BE49-F238E27FC236}">
                <a16:creationId xmlns:a16="http://schemas.microsoft.com/office/drawing/2014/main" id="{91C4253A-5FC6-209F-B8D5-F09839A14872}"/>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5" name="Footer Placeholder 4">
            <a:extLst>
              <a:ext uri="{FF2B5EF4-FFF2-40B4-BE49-F238E27FC236}">
                <a16:creationId xmlns:a16="http://schemas.microsoft.com/office/drawing/2014/main" id="{D2042C9C-0E44-F573-8B71-45A4DD276865}"/>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F47E11DE-078A-B691-521A-08B32A0D4C68}"/>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260096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41FD-C238-6AA3-B17F-1003DF4A2E79}"/>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1F07DAF8-0CB4-F597-F345-8A21613AEF6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4B2A705A-BC49-AD56-8450-60CEEA8C8785}"/>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5" name="Footer Placeholder 4">
            <a:extLst>
              <a:ext uri="{FF2B5EF4-FFF2-40B4-BE49-F238E27FC236}">
                <a16:creationId xmlns:a16="http://schemas.microsoft.com/office/drawing/2014/main" id="{0B60D3B2-0C63-D8FD-98F3-5EB38D1689B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BCD9960D-B996-F9FF-959A-04D7FAE1D2F5}"/>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3754634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FA3B-4D02-918F-7047-85DC0B8F09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I"/>
          </a:p>
        </p:txBody>
      </p:sp>
      <p:sp>
        <p:nvSpPr>
          <p:cNvPr id="3" name="Text Placeholder 2">
            <a:extLst>
              <a:ext uri="{FF2B5EF4-FFF2-40B4-BE49-F238E27FC236}">
                <a16:creationId xmlns:a16="http://schemas.microsoft.com/office/drawing/2014/main" id="{114CD1CE-22DF-C757-D384-77D4F54700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3FCE056-850A-18CA-1A4F-9BB3D1C96322}"/>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5" name="Footer Placeholder 4">
            <a:extLst>
              <a:ext uri="{FF2B5EF4-FFF2-40B4-BE49-F238E27FC236}">
                <a16:creationId xmlns:a16="http://schemas.microsoft.com/office/drawing/2014/main" id="{DE29F955-4D5C-A747-36AF-2E579E66131A}"/>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C2AEF27A-54AD-D5ED-3052-A0438857089D}"/>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313081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EA5E3-B9A1-4CCA-C89E-F99A23A346D0}"/>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3AB7DC7C-56CB-331D-CDE9-EE63ACC32A5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Content Placeholder 3">
            <a:extLst>
              <a:ext uri="{FF2B5EF4-FFF2-40B4-BE49-F238E27FC236}">
                <a16:creationId xmlns:a16="http://schemas.microsoft.com/office/drawing/2014/main" id="{6780C3DD-8AA9-A121-5544-ECA33AD8486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Date Placeholder 4">
            <a:extLst>
              <a:ext uri="{FF2B5EF4-FFF2-40B4-BE49-F238E27FC236}">
                <a16:creationId xmlns:a16="http://schemas.microsoft.com/office/drawing/2014/main" id="{813B7D14-8800-16D0-62C2-7FC9C69F22A4}"/>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6" name="Footer Placeholder 5">
            <a:extLst>
              <a:ext uri="{FF2B5EF4-FFF2-40B4-BE49-F238E27FC236}">
                <a16:creationId xmlns:a16="http://schemas.microsoft.com/office/drawing/2014/main" id="{00E4E3B3-6754-41A6-F35B-0839F3B00F40}"/>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98044E51-1A49-70D2-696E-D4A2225481DF}"/>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018491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BE64F-1C59-9D59-15C1-E7B8B4223E25}"/>
              </a:ext>
            </a:extLst>
          </p:cNvPr>
          <p:cNvSpPr>
            <a:spLocks noGrp="1"/>
          </p:cNvSpPr>
          <p:nvPr>
            <p:ph type="title"/>
          </p:nvPr>
        </p:nvSpPr>
        <p:spPr>
          <a:xfrm>
            <a:off x="839788" y="365125"/>
            <a:ext cx="10515600" cy="1325563"/>
          </a:xfrm>
        </p:spPr>
        <p:txBody>
          <a:bodyPr/>
          <a:lstStyle/>
          <a:p>
            <a:r>
              <a:rPr lang="en-GB"/>
              <a:t>Click to edit Master title style</a:t>
            </a:r>
            <a:endParaRPr lang="en-FI"/>
          </a:p>
        </p:txBody>
      </p:sp>
      <p:sp>
        <p:nvSpPr>
          <p:cNvPr id="3" name="Text Placeholder 2">
            <a:extLst>
              <a:ext uri="{FF2B5EF4-FFF2-40B4-BE49-F238E27FC236}">
                <a16:creationId xmlns:a16="http://schemas.microsoft.com/office/drawing/2014/main" id="{9F8A8212-F6CC-55D2-92E7-F1E0FC60D4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6DD8914-56B0-4DB0-164A-FA186C32A04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Text Placeholder 4">
            <a:extLst>
              <a:ext uri="{FF2B5EF4-FFF2-40B4-BE49-F238E27FC236}">
                <a16:creationId xmlns:a16="http://schemas.microsoft.com/office/drawing/2014/main" id="{47C80BE6-13AD-672A-15EE-CB2F70D6A2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704846C-3030-D5EE-BB4A-FAFA778801B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7" name="Date Placeholder 6">
            <a:extLst>
              <a:ext uri="{FF2B5EF4-FFF2-40B4-BE49-F238E27FC236}">
                <a16:creationId xmlns:a16="http://schemas.microsoft.com/office/drawing/2014/main" id="{0EE50A61-5BE4-8C64-041F-9957FC144643}"/>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8" name="Footer Placeholder 7">
            <a:extLst>
              <a:ext uri="{FF2B5EF4-FFF2-40B4-BE49-F238E27FC236}">
                <a16:creationId xmlns:a16="http://schemas.microsoft.com/office/drawing/2014/main" id="{DE034F62-D48D-A409-9748-4F51D9A74169}"/>
              </a:ext>
            </a:extLst>
          </p:cNvPr>
          <p:cNvSpPr>
            <a:spLocks noGrp="1"/>
          </p:cNvSpPr>
          <p:nvPr>
            <p:ph type="ftr" sz="quarter" idx="11"/>
          </p:nvPr>
        </p:nvSpPr>
        <p:spPr/>
        <p:txBody>
          <a:bodyPr/>
          <a:lstStyle/>
          <a:p>
            <a:endParaRPr lang="en-FI"/>
          </a:p>
        </p:txBody>
      </p:sp>
      <p:sp>
        <p:nvSpPr>
          <p:cNvPr id="9" name="Slide Number Placeholder 8">
            <a:extLst>
              <a:ext uri="{FF2B5EF4-FFF2-40B4-BE49-F238E27FC236}">
                <a16:creationId xmlns:a16="http://schemas.microsoft.com/office/drawing/2014/main" id="{0C0E8066-BB19-7B77-AA23-B429682335F9}"/>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264318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6655-629B-453C-98CA-AED4B6066EBF}"/>
              </a:ext>
            </a:extLst>
          </p:cNvPr>
          <p:cNvSpPr>
            <a:spLocks noGrp="1"/>
          </p:cNvSpPr>
          <p:nvPr>
            <p:ph type="title"/>
          </p:nvPr>
        </p:nvSpPr>
        <p:spPr/>
        <p:txBody>
          <a:bodyPr/>
          <a:lstStyle/>
          <a:p>
            <a:r>
              <a:rPr lang="en-GB"/>
              <a:t>Click to edit Master title style</a:t>
            </a:r>
            <a:endParaRPr lang="en-FI"/>
          </a:p>
        </p:txBody>
      </p:sp>
      <p:sp>
        <p:nvSpPr>
          <p:cNvPr id="3" name="Date Placeholder 2">
            <a:extLst>
              <a:ext uri="{FF2B5EF4-FFF2-40B4-BE49-F238E27FC236}">
                <a16:creationId xmlns:a16="http://schemas.microsoft.com/office/drawing/2014/main" id="{A1775B08-96CF-9305-8CFF-18D1EE6F6290}"/>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4" name="Footer Placeholder 3">
            <a:extLst>
              <a:ext uri="{FF2B5EF4-FFF2-40B4-BE49-F238E27FC236}">
                <a16:creationId xmlns:a16="http://schemas.microsoft.com/office/drawing/2014/main" id="{C304EA5F-73F0-7F4D-0BCF-B44DAA95E635}"/>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D3663813-4CD1-67BD-166A-FB4026756D5C}"/>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3764238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F24530-8042-6036-6F62-01B13B2B8521}"/>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3" name="Footer Placeholder 2">
            <a:extLst>
              <a:ext uri="{FF2B5EF4-FFF2-40B4-BE49-F238E27FC236}">
                <a16:creationId xmlns:a16="http://schemas.microsoft.com/office/drawing/2014/main" id="{10C8D4B7-7784-C0B8-7C10-8AE0C9BEA7AC}"/>
              </a:ext>
            </a:extLst>
          </p:cNvPr>
          <p:cNvSpPr>
            <a:spLocks noGrp="1"/>
          </p:cNvSpPr>
          <p:nvPr>
            <p:ph type="ftr" sz="quarter" idx="11"/>
          </p:nvPr>
        </p:nvSpPr>
        <p:spPr/>
        <p:txBody>
          <a:bodyPr/>
          <a:lstStyle/>
          <a:p>
            <a:endParaRPr lang="en-FI"/>
          </a:p>
        </p:txBody>
      </p:sp>
      <p:sp>
        <p:nvSpPr>
          <p:cNvPr id="4" name="Slide Number Placeholder 3">
            <a:extLst>
              <a:ext uri="{FF2B5EF4-FFF2-40B4-BE49-F238E27FC236}">
                <a16:creationId xmlns:a16="http://schemas.microsoft.com/office/drawing/2014/main" id="{84DF3AD2-7D7B-5621-B046-EEF444C62385}"/>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968187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F5E92-A539-2F10-E97F-A55428EBD1B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Content Placeholder 2">
            <a:extLst>
              <a:ext uri="{FF2B5EF4-FFF2-40B4-BE49-F238E27FC236}">
                <a16:creationId xmlns:a16="http://schemas.microsoft.com/office/drawing/2014/main" id="{588E7A90-92AD-B7D6-543C-07BECAF65F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Text Placeholder 3">
            <a:extLst>
              <a:ext uri="{FF2B5EF4-FFF2-40B4-BE49-F238E27FC236}">
                <a16:creationId xmlns:a16="http://schemas.microsoft.com/office/drawing/2014/main" id="{EB3CED37-C4CF-E9FC-851A-A9C75F6CD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AB4218-EF05-36C5-1609-87732EEE294D}"/>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6" name="Footer Placeholder 5">
            <a:extLst>
              <a:ext uri="{FF2B5EF4-FFF2-40B4-BE49-F238E27FC236}">
                <a16:creationId xmlns:a16="http://schemas.microsoft.com/office/drawing/2014/main" id="{81231DC2-7F23-C5EA-5DF5-177EB501E5A0}"/>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6D708F3B-C222-9C5B-71ED-68BC2B07FE2D}"/>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836604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86872-1FB6-D883-AB8C-E9D29DAE6C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Picture Placeholder 2">
            <a:extLst>
              <a:ext uri="{FF2B5EF4-FFF2-40B4-BE49-F238E27FC236}">
                <a16:creationId xmlns:a16="http://schemas.microsoft.com/office/drawing/2014/main" id="{29CA36A4-EEB9-CCDD-8A45-ABF312ADB7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I"/>
          </a:p>
        </p:txBody>
      </p:sp>
      <p:sp>
        <p:nvSpPr>
          <p:cNvPr id="4" name="Text Placeholder 3">
            <a:extLst>
              <a:ext uri="{FF2B5EF4-FFF2-40B4-BE49-F238E27FC236}">
                <a16:creationId xmlns:a16="http://schemas.microsoft.com/office/drawing/2014/main" id="{55F0569B-2A0A-F3B4-7555-7244D2711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DD1E594-2C58-3F2B-B7F2-A94AD12B7981}"/>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6" name="Footer Placeholder 5">
            <a:extLst>
              <a:ext uri="{FF2B5EF4-FFF2-40B4-BE49-F238E27FC236}">
                <a16:creationId xmlns:a16="http://schemas.microsoft.com/office/drawing/2014/main" id="{248385B4-D0A3-6A01-DFF1-6AD2EA99762C}"/>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85C59D9F-2DA8-D01F-091D-562E655BCDD6}"/>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248934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C495-96D1-A6E0-5361-CFDF328AD55C}"/>
              </a:ext>
            </a:extLst>
          </p:cNvPr>
          <p:cNvSpPr>
            <a:spLocks noGrp="1"/>
          </p:cNvSpPr>
          <p:nvPr>
            <p:ph type="title"/>
          </p:nvPr>
        </p:nvSpPr>
        <p:spPr/>
        <p:txBody>
          <a:bodyPr/>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3EA6FB71-34FD-87A6-CF56-8F09C4AF16F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DBA4F0CC-C69E-7ED9-AA3A-0072547E170B}"/>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5" name="Footer Placeholder 4">
            <a:extLst>
              <a:ext uri="{FF2B5EF4-FFF2-40B4-BE49-F238E27FC236}">
                <a16:creationId xmlns:a16="http://schemas.microsoft.com/office/drawing/2014/main" id="{92608F42-0D02-5524-1CE4-20FF6C455249}"/>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D5E0588D-C3A0-72E4-242C-4CD9E706C5B6}"/>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66088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ACEFF8-08EF-D235-7DFF-0043FA317DB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88FDE970-D7B1-1E43-609C-779756F4D22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69B2D2AD-A5FD-05DA-FC06-7CCC22A99659}"/>
              </a:ext>
            </a:extLst>
          </p:cNvPr>
          <p:cNvSpPr>
            <a:spLocks noGrp="1"/>
          </p:cNvSpPr>
          <p:nvPr>
            <p:ph type="dt" sz="half" idx="10"/>
          </p:nvPr>
        </p:nvSpPr>
        <p:spPr/>
        <p:txBody>
          <a:bodyPr/>
          <a:lstStyle/>
          <a:p>
            <a:fld id="{09D37EF4-754B-430E-B491-29BCE9712ADF}" type="datetimeFigureOut">
              <a:rPr lang="en-FI" smtClean="0"/>
              <a:t>20/12/2025</a:t>
            </a:fld>
            <a:endParaRPr lang="en-FI"/>
          </a:p>
        </p:txBody>
      </p:sp>
      <p:sp>
        <p:nvSpPr>
          <p:cNvPr id="5" name="Footer Placeholder 4">
            <a:extLst>
              <a:ext uri="{FF2B5EF4-FFF2-40B4-BE49-F238E27FC236}">
                <a16:creationId xmlns:a16="http://schemas.microsoft.com/office/drawing/2014/main" id="{99E50879-E10E-1F78-B13F-B0333376A0E9}"/>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07AC7FD2-B294-D844-5BC6-36EE0E365E63}"/>
              </a:ext>
            </a:extLst>
          </p:cNvPr>
          <p:cNvSpPr>
            <a:spLocks noGrp="1"/>
          </p:cNvSpPr>
          <p:nvPr>
            <p:ph type="sldNum" sz="quarter" idx="12"/>
          </p:nvPr>
        </p:nvSpPr>
        <p:spPr/>
        <p:txBody>
          <a:bodyPr/>
          <a:lstStyle/>
          <a:p>
            <a:fld id="{60A3380C-6BC6-4331-B472-971007E22E18}" type="slidenum">
              <a:rPr lang="en-FI" smtClean="0"/>
              <a:t>‹#›</a:t>
            </a:fld>
            <a:endParaRPr lang="en-FI"/>
          </a:p>
        </p:txBody>
      </p:sp>
    </p:spTree>
    <p:extLst>
      <p:ext uri="{BB962C8B-B14F-4D97-AF65-F5344CB8AC3E}">
        <p14:creationId xmlns:p14="http://schemas.microsoft.com/office/powerpoint/2010/main" val="127815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7FE85A-E17A-F3E5-2643-C568D2E06E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I"/>
          </a:p>
        </p:txBody>
      </p:sp>
      <p:sp>
        <p:nvSpPr>
          <p:cNvPr id="3" name="Text Placeholder 2">
            <a:extLst>
              <a:ext uri="{FF2B5EF4-FFF2-40B4-BE49-F238E27FC236}">
                <a16:creationId xmlns:a16="http://schemas.microsoft.com/office/drawing/2014/main" id="{9A9DD1D5-2FFC-6EAC-FF95-0B4C976B5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520CADD8-1C81-F2B2-D757-371325386A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D37EF4-754B-430E-B491-29BCE9712ADF}" type="datetimeFigureOut">
              <a:rPr lang="en-FI" smtClean="0"/>
              <a:t>20/12/2025</a:t>
            </a:fld>
            <a:endParaRPr lang="en-FI"/>
          </a:p>
        </p:txBody>
      </p:sp>
      <p:sp>
        <p:nvSpPr>
          <p:cNvPr id="5" name="Footer Placeholder 4">
            <a:extLst>
              <a:ext uri="{FF2B5EF4-FFF2-40B4-BE49-F238E27FC236}">
                <a16:creationId xmlns:a16="http://schemas.microsoft.com/office/drawing/2014/main" id="{73F3FBF7-0EC4-2427-F881-A3324D0391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I"/>
          </a:p>
        </p:txBody>
      </p:sp>
      <p:sp>
        <p:nvSpPr>
          <p:cNvPr id="6" name="Slide Number Placeholder 5">
            <a:extLst>
              <a:ext uri="{FF2B5EF4-FFF2-40B4-BE49-F238E27FC236}">
                <a16:creationId xmlns:a16="http://schemas.microsoft.com/office/drawing/2014/main" id="{FE59A621-0B21-DBA6-6D0A-680199552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A3380C-6BC6-4331-B472-971007E22E18}" type="slidenum">
              <a:rPr lang="en-FI" smtClean="0"/>
              <a:t>‹#›</a:t>
            </a:fld>
            <a:endParaRPr lang="en-FI"/>
          </a:p>
        </p:txBody>
      </p:sp>
    </p:spTree>
    <p:extLst>
      <p:ext uri="{BB962C8B-B14F-4D97-AF65-F5344CB8AC3E}">
        <p14:creationId xmlns:p14="http://schemas.microsoft.com/office/powerpoint/2010/main" val="611898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a:extLst>
              <a:ext uri="{FF2B5EF4-FFF2-40B4-BE49-F238E27FC236}">
                <a16:creationId xmlns:a16="http://schemas.microsoft.com/office/drawing/2014/main" id="{44342BB5-7B2C-2657-B198-0824C223F4DF}"/>
              </a:ext>
            </a:extLst>
          </p:cNvPr>
          <p:cNvSpPr/>
          <p:nvPr/>
        </p:nvSpPr>
        <p:spPr>
          <a:xfrm>
            <a:off x="816426" y="4510596"/>
            <a:ext cx="3407230" cy="2155371"/>
          </a:xfrm>
          <a:prstGeom prst="triangl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 name="TextBox 4">
            <a:extLst>
              <a:ext uri="{FF2B5EF4-FFF2-40B4-BE49-F238E27FC236}">
                <a16:creationId xmlns:a16="http://schemas.microsoft.com/office/drawing/2014/main" id="{14068B41-3D7D-A605-3D10-4C9004AEB77C}"/>
              </a:ext>
            </a:extLst>
          </p:cNvPr>
          <p:cNvSpPr txBox="1"/>
          <p:nvPr/>
        </p:nvSpPr>
        <p:spPr>
          <a:xfrm>
            <a:off x="1521278" y="5416820"/>
            <a:ext cx="2013857"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Dummies in </a:t>
            </a:r>
            <a:r>
              <a:rPr lang="en-GB" sz="2500" b="1" dirty="0" err="1">
                <a:solidFill>
                  <a:schemeClr val="bg1"/>
                </a:solidFill>
                <a:latin typeface="Palatino Linotype" panose="02040502050505030304" pitchFamily="18" charset="0"/>
                <a:cs typeface="Times New Roman" panose="02020603050405020304" pitchFamily="18" charset="0"/>
              </a:rPr>
              <a:t>vaccum</a:t>
            </a:r>
            <a:endParaRPr lang="en-FI" sz="2500" b="1" dirty="0">
              <a:solidFill>
                <a:schemeClr val="bg1"/>
              </a:solidFill>
              <a:latin typeface="Palatino Linotype" panose="0204050205050503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2B28AA3-536D-8A2A-72CA-71A48B529860}"/>
              </a:ext>
            </a:extLst>
          </p:cNvPr>
          <p:cNvSpPr/>
          <p:nvPr/>
        </p:nvSpPr>
        <p:spPr>
          <a:xfrm>
            <a:off x="1028698" y="571519"/>
            <a:ext cx="2982687" cy="202474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TextBox 6">
            <a:extLst>
              <a:ext uri="{FF2B5EF4-FFF2-40B4-BE49-F238E27FC236}">
                <a16:creationId xmlns:a16="http://schemas.microsoft.com/office/drawing/2014/main" id="{B076632D-5EC1-CF35-7654-D0A95FF33F6A}"/>
              </a:ext>
            </a:extLst>
          </p:cNvPr>
          <p:cNvSpPr txBox="1"/>
          <p:nvPr/>
        </p:nvSpPr>
        <p:spPr>
          <a:xfrm>
            <a:off x="1403565" y="1043485"/>
            <a:ext cx="2220688"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Drug in </a:t>
            </a:r>
            <a:r>
              <a:rPr lang="en-GB" sz="2500" b="1" dirty="0" err="1">
                <a:solidFill>
                  <a:schemeClr val="bg1"/>
                </a:solidFill>
                <a:latin typeface="Palatino Linotype" panose="02040502050505030304" pitchFamily="18" charset="0"/>
                <a:cs typeface="Times New Roman" panose="02020603050405020304" pitchFamily="18" charset="0"/>
              </a:rPr>
              <a:t>vaccum</a:t>
            </a:r>
            <a:endParaRPr lang="en-FI" sz="2500" b="1" dirty="0">
              <a:solidFill>
                <a:schemeClr val="bg1"/>
              </a:solidFill>
              <a:latin typeface="Palatino Linotype" panose="0204050205050503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83C1E853-48A5-CAC7-E2F3-CB1AB603FF79}"/>
              </a:ext>
            </a:extLst>
          </p:cNvPr>
          <p:cNvCxnSpPr>
            <a:cxnSpLocks/>
          </p:cNvCxnSpPr>
          <p:nvPr/>
        </p:nvCxnSpPr>
        <p:spPr>
          <a:xfrm>
            <a:off x="2492809" y="2786225"/>
            <a:ext cx="0" cy="1494591"/>
          </a:xfrm>
          <a:prstGeom prst="straightConnector1">
            <a:avLst/>
          </a:prstGeom>
          <a:ln w="38100">
            <a:solidFill>
              <a:schemeClr val="tx1">
                <a:lumMod val="95000"/>
                <a:lumOff val="5000"/>
              </a:schemeClr>
            </a:solidFill>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D6EE4D-92CC-288E-03CE-C9C88D89B800}"/>
                  </a:ext>
                </a:extLst>
              </p:cNvPr>
              <p:cNvSpPr txBox="1"/>
              <p:nvPr/>
            </p:nvSpPr>
            <p:spPr>
              <a:xfrm>
                <a:off x="816426" y="3377247"/>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1</m:t>
                          </m:r>
                        </m:sub>
                      </m:sSub>
                    </m:oMath>
                  </m:oMathPara>
                </a14:m>
                <a:endParaRPr lang="en-FI" sz="3000" dirty="0"/>
              </a:p>
            </p:txBody>
          </p:sp>
        </mc:Choice>
        <mc:Fallback xmlns="">
          <p:sp>
            <p:nvSpPr>
              <p:cNvPr id="10" name="TextBox 9">
                <a:extLst>
                  <a:ext uri="{FF2B5EF4-FFF2-40B4-BE49-F238E27FC236}">
                    <a16:creationId xmlns:a16="http://schemas.microsoft.com/office/drawing/2014/main" id="{53D6EE4D-92CC-288E-03CE-C9C88D89B800}"/>
                  </a:ext>
                </a:extLst>
              </p:cNvPr>
              <p:cNvSpPr txBox="1">
                <a:spLocks noRot="1" noChangeAspect="1" noMove="1" noResize="1" noEditPoints="1" noAdjustHandles="1" noChangeArrowheads="1" noChangeShapeType="1" noTextEdit="1"/>
              </p:cNvSpPr>
              <p:nvPr/>
            </p:nvSpPr>
            <p:spPr>
              <a:xfrm>
                <a:off x="816426" y="3377247"/>
                <a:ext cx="1578415" cy="553998"/>
              </a:xfrm>
              <a:prstGeom prst="rect">
                <a:avLst/>
              </a:prstGeom>
              <a:blipFill>
                <a:blip r:embed="rId3"/>
                <a:stretch>
                  <a:fillRect/>
                </a:stretch>
              </a:blipFill>
            </p:spPr>
            <p:txBody>
              <a:bodyPr/>
              <a:lstStyle/>
              <a:p>
                <a:r>
                  <a:rPr lang="en-FI">
                    <a:noFill/>
                  </a:rPr>
                  <a:t> </a:t>
                </a:r>
              </a:p>
            </p:txBody>
          </p:sp>
        </mc:Fallback>
      </mc:AlternateContent>
      <p:sp>
        <p:nvSpPr>
          <p:cNvPr id="17" name="Rectangle: Rounded Corners 16">
            <a:extLst>
              <a:ext uri="{FF2B5EF4-FFF2-40B4-BE49-F238E27FC236}">
                <a16:creationId xmlns:a16="http://schemas.microsoft.com/office/drawing/2014/main" id="{884ACEAD-309E-1237-CEA9-8A4B70A22797}"/>
              </a:ext>
            </a:extLst>
          </p:cNvPr>
          <p:cNvSpPr/>
          <p:nvPr/>
        </p:nvSpPr>
        <p:spPr>
          <a:xfrm>
            <a:off x="7581901" y="571519"/>
            <a:ext cx="2982687" cy="2024743"/>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8" name="TextBox 17">
            <a:extLst>
              <a:ext uri="{FF2B5EF4-FFF2-40B4-BE49-F238E27FC236}">
                <a16:creationId xmlns:a16="http://schemas.microsoft.com/office/drawing/2014/main" id="{D3A6E048-0C13-DA7F-6045-BD7A634CB326}"/>
              </a:ext>
            </a:extLst>
          </p:cNvPr>
          <p:cNvSpPr txBox="1"/>
          <p:nvPr/>
        </p:nvSpPr>
        <p:spPr>
          <a:xfrm>
            <a:off x="7810500" y="1043484"/>
            <a:ext cx="2661557"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Drug in solvent (water/octanol)</a:t>
            </a:r>
            <a:endParaRPr lang="en-FI" sz="2500" b="1" dirty="0">
              <a:solidFill>
                <a:schemeClr val="bg1"/>
              </a:solidFill>
              <a:latin typeface="Palatino Linotype" panose="02040502050505030304" pitchFamily="18" charset="0"/>
              <a:cs typeface="Times New Roman" panose="02020603050405020304" pitchFamily="18" charset="0"/>
            </a:endParaRPr>
          </a:p>
        </p:txBody>
      </p:sp>
      <p:cxnSp>
        <p:nvCxnSpPr>
          <p:cNvPr id="22" name="Straight Arrow Connector 21">
            <a:extLst>
              <a:ext uri="{FF2B5EF4-FFF2-40B4-BE49-F238E27FC236}">
                <a16:creationId xmlns:a16="http://schemas.microsoft.com/office/drawing/2014/main" id="{A6A38100-061A-2214-AC75-B3C1ECE17018}"/>
              </a:ext>
            </a:extLst>
          </p:cNvPr>
          <p:cNvCxnSpPr/>
          <p:nvPr/>
        </p:nvCxnSpPr>
        <p:spPr>
          <a:xfrm>
            <a:off x="4223656" y="1589314"/>
            <a:ext cx="3265715"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82019CB-8315-D144-F924-F360BC6E5456}"/>
              </a:ext>
            </a:extLst>
          </p:cNvPr>
          <p:cNvCxnSpPr/>
          <p:nvPr/>
        </p:nvCxnSpPr>
        <p:spPr>
          <a:xfrm>
            <a:off x="4223656" y="5715000"/>
            <a:ext cx="3265715" cy="0"/>
          </a:xfrm>
          <a:prstGeom prst="straightConnector1">
            <a:avLst/>
          </a:prstGeom>
          <a:ln w="38100">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Isosceles Triangle 1">
            <a:extLst>
              <a:ext uri="{FF2B5EF4-FFF2-40B4-BE49-F238E27FC236}">
                <a16:creationId xmlns:a16="http://schemas.microsoft.com/office/drawing/2014/main" id="{9954C2FA-76B5-F2A8-AEB7-1A346D0066B2}"/>
              </a:ext>
            </a:extLst>
          </p:cNvPr>
          <p:cNvSpPr/>
          <p:nvPr/>
        </p:nvSpPr>
        <p:spPr>
          <a:xfrm>
            <a:off x="7429499" y="4506685"/>
            <a:ext cx="3407230" cy="2155371"/>
          </a:xfrm>
          <a:prstGeom prst="triangl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TextBox 2">
            <a:extLst>
              <a:ext uri="{FF2B5EF4-FFF2-40B4-BE49-F238E27FC236}">
                <a16:creationId xmlns:a16="http://schemas.microsoft.com/office/drawing/2014/main" id="{31D8209B-CCC3-7DEE-3DCF-0E5226687BF8}"/>
              </a:ext>
            </a:extLst>
          </p:cNvPr>
          <p:cNvSpPr txBox="1"/>
          <p:nvPr/>
        </p:nvSpPr>
        <p:spPr>
          <a:xfrm>
            <a:off x="8134351" y="5412909"/>
            <a:ext cx="2013857" cy="1187569"/>
          </a:xfrm>
          <a:prstGeom prst="rect">
            <a:avLst/>
          </a:prstGeom>
          <a:noFill/>
        </p:spPr>
        <p:txBody>
          <a:bodyPr wrap="square" rtlCol="0">
            <a:spAutoFit/>
          </a:bodyPr>
          <a:lstStyle/>
          <a:p>
            <a:pPr algn="ctr">
              <a:lnSpc>
                <a:spcPct val="150000"/>
              </a:lnSpc>
            </a:pPr>
            <a:r>
              <a:rPr lang="en-GB" sz="2500" b="1" dirty="0">
                <a:solidFill>
                  <a:schemeClr val="bg1"/>
                </a:solidFill>
                <a:latin typeface="Palatino Linotype" panose="02040502050505030304" pitchFamily="18" charset="0"/>
                <a:cs typeface="Times New Roman" panose="02020603050405020304" pitchFamily="18" charset="0"/>
              </a:rPr>
              <a:t>Dummies in </a:t>
            </a:r>
            <a:r>
              <a:rPr lang="en-GB" sz="2500" b="1" dirty="0" err="1">
                <a:solidFill>
                  <a:schemeClr val="bg1"/>
                </a:solidFill>
                <a:latin typeface="Palatino Linotype" panose="02040502050505030304" pitchFamily="18" charset="0"/>
                <a:cs typeface="Times New Roman" panose="02020603050405020304" pitchFamily="18" charset="0"/>
              </a:rPr>
              <a:t>vaccum</a:t>
            </a:r>
            <a:endParaRPr lang="en-FI" sz="2500" b="1" dirty="0">
              <a:solidFill>
                <a:schemeClr val="bg1"/>
              </a:solidFill>
              <a:latin typeface="Palatino Linotype" panose="0204050205050503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39D32689-C3DA-9655-B341-BDA7958C1085}"/>
              </a:ext>
            </a:extLst>
          </p:cNvPr>
          <p:cNvCxnSpPr>
            <a:cxnSpLocks/>
          </p:cNvCxnSpPr>
          <p:nvPr/>
        </p:nvCxnSpPr>
        <p:spPr>
          <a:xfrm>
            <a:off x="9092273" y="2786225"/>
            <a:ext cx="0" cy="1494591"/>
          </a:xfrm>
          <a:prstGeom prst="straightConnector1">
            <a:avLst/>
          </a:prstGeom>
          <a:ln w="38100">
            <a:solidFill>
              <a:schemeClr val="tx1">
                <a:lumMod val="95000"/>
                <a:lumOff val="5000"/>
              </a:schemeClr>
            </a:solidFill>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C3B6C68-138F-182E-A922-1E7A95641F96}"/>
                  </a:ext>
                </a:extLst>
              </p:cNvPr>
              <p:cNvSpPr txBox="1"/>
              <p:nvPr/>
            </p:nvSpPr>
            <p:spPr>
              <a:xfrm>
                <a:off x="9133114" y="3377247"/>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3</m:t>
                          </m:r>
                        </m:sub>
                      </m:sSub>
                    </m:oMath>
                  </m:oMathPara>
                </a14:m>
                <a:endParaRPr lang="en-FI" sz="3000" dirty="0"/>
              </a:p>
            </p:txBody>
          </p:sp>
        </mc:Choice>
        <mc:Fallback xmlns="">
          <p:sp>
            <p:nvSpPr>
              <p:cNvPr id="13" name="TextBox 12">
                <a:extLst>
                  <a:ext uri="{FF2B5EF4-FFF2-40B4-BE49-F238E27FC236}">
                    <a16:creationId xmlns:a16="http://schemas.microsoft.com/office/drawing/2014/main" id="{4C3B6C68-138F-182E-A922-1E7A95641F96}"/>
                  </a:ext>
                </a:extLst>
              </p:cNvPr>
              <p:cNvSpPr txBox="1">
                <a:spLocks noRot="1" noChangeAspect="1" noMove="1" noResize="1" noEditPoints="1" noAdjustHandles="1" noChangeArrowheads="1" noChangeShapeType="1" noTextEdit="1"/>
              </p:cNvSpPr>
              <p:nvPr/>
            </p:nvSpPr>
            <p:spPr>
              <a:xfrm>
                <a:off x="9133114" y="3377247"/>
                <a:ext cx="1578415" cy="553998"/>
              </a:xfrm>
              <a:prstGeom prst="rect">
                <a:avLst/>
              </a:prstGeom>
              <a:blipFill>
                <a:blip r:embed="rId4"/>
                <a:stretch>
                  <a:fillRect/>
                </a:stretch>
              </a:blipFill>
            </p:spPr>
            <p:txBody>
              <a:bodyPr/>
              <a:lstStyle/>
              <a:p>
                <a:r>
                  <a:rPr lang="en-FI">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9BC4AC6-6D51-E249-2B89-4C59518E9F55}"/>
                  </a:ext>
                </a:extLst>
              </p:cNvPr>
              <p:cNvSpPr txBox="1"/>
              <p:nvPr/>
            </p:nvSpPr>
            <p:spPr>
              <a:xfrm>
                <a:off x="5114932" y="5097641"/>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2</m:t>
                          </m:r>
                        </m:sub>
                      </m:sSub>
                    </m:oMath>
                  </m:oMathPara>
                </a14:m>
                <a:endParaRPr lang="en-FI" sz="3000" dirty="0"/>
              </a:p>
            </p:txBody>
          </p:sp>
        </mc:Choice>
        <mc:Fallback xmlns="">
          <p:sp>
            <p:nvSpPr>
              <p:cNvPr id="14" name="TextBox 13">
                <a:extLst>
                  <a:ext uri="{FF2B5EF4-FFF2-40B4-BE49-F238E27FC236}">
                    <a16:creationId xmlns:a16="http://schemas.microsoft.com/office/drawing/2014/main" id="{69BC4AC6-6D51-E249-2B89-4C59518E9F55}"/>
                  </a:ext>
                </a:extLst>
              </p:cNvPr>
              <p:cNvSpPr txBox="1">
                <a:spLocks noRot="1" noChangeAspect="1" noMove="1" noResize="1" noEditPoints="1" noAdjustHandles="1" noChangeArrowheads="1" noChangeShapeType="1" noTextEdit="1"/>
              </p:cNvSpPr>
              <p:nvPr/>
            </p:nvSpPr>
            <p:spPr>
              <a:xfrm>
                <a:off x="5114932" y="5097641"/>
                <a:ext cx="1578415" cy="553998"/>
              </a:xfrm>
              <a:prstGeom prst="rect">
                <a:avLst/>
              </a:prstGeom>
              <a:blipFill>
                <a:blip r:embed="rId5"/>
                <a:stretch>
                  <a:fillRect/>
                </a:stretch>
              </a:blipFill>
            </p:spPr>
            <p:txBody>
              <a:bodyPr/>
              <a:lstStyle/>
              <a:p>
                <a:r>
                  <a:rPr lang="en-FI">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C99BF46-4EA3-13CB-0886-F398265C282F}"/>
                  </a:ext>
                </a:extLst>
              </p:cNvPr>
              <p:cNvSpPr txBox="1"/>
              <p:nvPr/>
            </p:nvSpPr>
            <p:spPr>
              <a:xfrm>
                <a:off x="5007435" y="971955"/>
                <a:ext cx="1578415"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𝛥</m:t>
                      </m:r>
                      <m:sSub>
                        <m:sSubPr>
                          <m:ctrlPr>
                            <a:rPr lang="pt-BR" sz="30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ctrlPr>
                        </m:sSubPr>
                        <m:e>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𝐺</m:t>
                          </m:r>
                        </m:e>
                        <m:sub>
                          <m:r>
                            <a:rPr lang="en-GB" sz="3000" b="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𝑠𝑜𝑙𝑣𝑎𝑡𝑖𝑜𝑛</m:t>
                          </m:r>
                        </m:sub>
                      </m:sSub>
                    </m:oMath>
                  </m:oMathPara>
                </a14:m>
                <a:endParaRPr lang="en-FI" sz="3000" dirty="0"/>
              </a:p>
            </p:txBody>
          </p:sp>
        </mc:Choice>
        <mc:Fallback xmlns="">
          <p:sp>
            <p:nvSpPr>
              <p:cNvPr id="21" name="TextBox 20">
                <a:extLst>
                  <a:ext uri="{FF2B5EF4-FFF2-40B4-BE49-F238E27FC236}">
                    <a16:creationId xmlns:a16="http://schemas.microsoft.com/office/drawing/2014/main" id="{FC99BF46-4EA3-13CB-0886-F398265C282F}"/>
                  </a:ext>
                </a:extLst>
              </p:cNvPr>
              <p:cNvSpPr txBox="1">
                <a:spLocks noRot="1" noChangeAspect="1" noMove="1" noResize="1" noEditPoints="1" noAdjustHandles="1" noChangeArrowheads="1" noChangeShapeType="1" noTextEdit="1"/>
              </p:cNvSpPr>
              <p:nvPr/>
            </p:nvSpPr>
            <p:spPr>
              <a:xfrm>
                <a:off x="5007435" y="971955"/>
                <a:ext cx="1578415" cy="553998"/>
              </a:xfrm>
              <a:prstGeom prst="rect">
                <a:avLst/>
              </a:prstGeom>
              <a:blipFill>
                <a:blip r:embed="rId6"/>
                <a:stretch>
                  <a:fillRect r="-17375"/>
                </a:stretch>
              </a:blipFill>
            </p:spPr>
            <p:txBody>
              <a:bodyPr/>
              <a:lstStyle/>
              <a:p>
                <a:r>
                  <a:rPr lang="en-FI">
                    <a:noFill/>
                  </a:rPr>
                  <a:t> </a:t>
                </a:r>
              </a:p>
            </p:txBody>
          </p:sp>
        </mc:Fallback>
      </mc:AlternateContent>
    </p:spTree>
    <p:extLst>
      <p:ext uri="{BB962C8B-B14F-4D97-AF65-F5344CB8AC3E}">
        <p14:creationId xmlns:p14="http://schemas.microsoft.com/office/powerpoint/2010/main" val="41133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TotalTime>
  <Words>545</Words>
  <Application>Microsoft Office PowerPoint</Application>
  <PresentationFormat>Widescreen</PresentationFormat>
  <Paragraphs>31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Cambria Math</vt:lpstr>
      <vt:lpstr>Palatino Linotype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Quoc Bao Ngo</dc:creator>
  <cp:lastModifiedBy>Bao Ngo</cp:lastModifiedBy>
  <cp:revision>11</cp:revision>
  <dcterms:created xsi:type="dcterms:W3CDTF">2024-04-06T20:34:11Z</dcterms:created>
  <dcterms:modified xsi:type="dcterms:W3CDTF">2025-12-20T11:03:14Z</dcterms:modified>
</cp:coreProperties>
</file>