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058" autoAdjust="0"/>
  </p:normalViewPr>
  <p:slideViewPr>
    <p:cSldViewPr snapToGrid="0">
      <p:cViewPr varScale="1">
        <p:scale>
          <a:sx n="88" d="100"/>
          <a:sy n="88" d="100"/>
        </p:scale>
        <p:origin x="14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193616-CD17-4EDB-8F7E-F4A7369F4193}" type="datetimeFigureOut">
              <a:rPr lang="en-FI" smtClean="0"/>
              <a:t>21/12/2025</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6973DE-6E76-4AAE-8734-B9E0797EA8DC}" type="slidenum">
              <a:rPr lang="en-FI" smtClean="0"/>
              <a:t>‹#›</a:t>
            </a:fld>
            <a:endParaRPr lang="en-FI"/>
          </a:p>
        </p:txBody>
      </p:sp>
    </p:spTree>
    <p:extLst>
      <p:ext uri="{BB962C8B-B14F-4D97-AF65-F5344CB8AC3E}">
        <p14:creationId xmlns:p14="http://schemas.microsoft.com/office/powerpoint/2010/main" val="935843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r>
                  <a:rPr lang="en-GB" sz="1200" b="0" i="0" kern="1200" dirty="0">
                    <a:solidFill>
                      <a:schemeClr val="tx1"/>
                    </a:solidFill>
                    <a:latin typeface="Cambria Math" panose="02040503050406030204" pitchFamily="18" charset="0"/>
                    <a:ea typeface="+mn-ea"/>
                    <a:cs typeface="+mn-cs"/>
                  </a:rPr>
                  <a:t>The thermodynamic cycle above illustrates the purpose of water solvation free energy calibration against potential of mean force (PMF) profile generated from the permeation of drug through DMPC membrane.</a:t>
                </a:r>
              </a:p>
              <a:p>
                <a:pPr algn="l"/>
                <a:endParaRPr lang="en-GB" sz="1200" b="0" i="0" kern="1200" dirty="0">
                  <a:solidFill>
                    <a:schemeClr val="tx1"/>
                  </a:solidFill>
                  <a:latin typeface="Cambria Math" panose="02040503050406030204" pitchFamily="18" charset="0"/>
                  <a:ea typeface="+mn-ea"/>
                  <a:cs typeface="+mn-cs"/>
                </a:endParaRPr>
              </a:p>
              <a:p>
                <a:pPr algn="l"/>
                <a:r>
                  <a:rPr lang="en-GB" sz="1200" b="0" i="0" kern="1200" dirty="0">
                    <a:solidFill>
                      <a:schemeClr val="tx1"/>
                    </a:solidFill>
                    <a:latin typeface="Cambria Math" panose="02040503050406030204" pitchFamily="18" charset="0"/>
                    <a:ea typeface="+mn-ea"/>
                    <a:cs typeface="+mn-cs"/>
                  </a:rPr>
                  <a:t>For a specific</a:t>
                </a:r>
                <a:r>
                  <a:rPr lang="en-GB" sz="1200" b="0" i="0" kern="1200" baseline="0" dirty="0">
                    <a:solidFill>
                      <a:schemeClr val="tx1"/>
                    </a:solidFill>
                    <a:latin typeface="Cambria Math" panose="02040503050406030204" pitchFamily="18" charset="0"/>
                    <a:ea typeface="+mn-ea"/>
                    <a:cs typeface="+mn-cs"/>
                  </a:rPr>
                  <a:t> point within the membrane,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transfer</m:t>
                        </m:r>
                      </m:sub>
                    </m:sSub>
                  </m:oMath>
                </a14:m>
                <a:r>
                  <a:rPr lang="en-GB" sz="1200" b="0" i="0" kern="1200" baseline="0" dirty="0">
                    <a:solidFill>
                      <a:schemeClr val="tx1"/>
                    </a:solidFill>
                    <a:effectLst/>
                    <a:latin typeface="+mn-lt"/>
                    <a:ea typeface="+mn-ea"/>
                    <a:cs typeface="+mn-cs"/>
                  </a:rPr>
                  <a:t> corresponds to the free energy of transfer from the water vehicle to that point of the DMPC membrane structure.</a:t>
                </a:r>
              </a:p>
              <a:p>
                <a:endParaRPr lang="en-GB" sz="1200" b="0" i="0" kern="1200" baseline="0" dirty="0">
                  <a:solidFill>
                    <a:schemeClr val="tx1"/>
                  </a:solidFill>
                  <a:effectLst/>
                  <a:latin typeface="+mn-lt"/>
                  <a:ea typeface="+mn-ea"/>
                  <a:cs typeface="+mn-cs"/>
                </a:endParaRPr>
              </a:p>
              <a:p>
                <a:pPr algn="ct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transfer</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2</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dirty="0">
                    <a:effectLst/>
                  </a:rPr>
                  <a:t> = 0 =&gt;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transfer</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sub>
                    </m:sSub>
                  </m:oMath>
                </a14:m>
                <a:r>
                  <a:rPr lang="en-GB" b="0" dirty="0">
                    <a:effectLst/>
                  </a:rPr>
                  <a:t> -</a:t>
                </a:r>
                <a:r>
                  <a:rPr lang="en-GB" b="0" baseline="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2</m:t>
                        </m:r>
                      </m:sub>
                    </m:sSub>
                  </m:oMath>
                </a14:m>
                <a:r>
                  <a:rPr lang="en-GB" b="0" dirty="0">
                    <a:effectLst/>
                  </a:rPr>
                  <a:t> = 0)</a:t>
                </a:r>
              </a:p>
              <a:p>
                <a:pPr algn="l"/>
                <a:endParaRPr lang="en-GB" b="0" dirty="0">
                  <a:effectLst/>
                </a:endParaRPr>
              </a:p>
              <a:p>
                <a:pP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sub>
                    </m:sSub>
                  </m:oMath>
                </a14:m>
                <a:r>
                  <a:rPr lang="en-GB" b="0" dirty="0">
                    <a:effectLst/>
                  </a:rPr>
                  <a:t>: free energy taken to</a:t>
                </a:r>
                <a:r>
                  <a:rPr lang="en-GB" b="0" baseline="0" dirty="0">
                    <a:effectLst/>
                  </a:rPr>
                  <a:t> turn on all the drug’s non-bonded intra-molecular + extra-molecular interactions when the drug is in DMPC membrane.</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baseline="0" dirty="0">
                    <a:effectLst/>
                  </a:rPr>
                  <a:t>: </a:t>
                </a:r>
                <a:r>
                  <a:rPr lang="en-GB" b="0" dirty="0">
                    <a:effectLst/>
                  </a:rPr>
                  <a:t>free energy taken to</a:t>
                </a:r>
                <a:r>
                  <a:rPr lang="en-GB" b="0" baseline="0" dirty="0">
                    <a:effectLst/>
                  </a:rPr>
                  <a:t> turn on all the drug’s non-bonded intra-molecular + extra-molecular interactions when the drug is in </a:t>
                </a:r>
                <a:r>
                  <a:rPr lang="en-GB" b="0" baseline="0">
                    <a:effectLst/>
                  </a:rPr>
                  <a:t>water solvent.</a:t>
                </a:r>
                <a:endParaRPr lang="en-GB" b="0" baseline="0" dirty="0">
                  <a:effectLst/>
                </a:endParaRPr>
              </a:p>
              <a:p>
                <a:pPr/>
                <a:endParaRPr lang="en-GB" b="0" baseline="0" dirty="0">
                  <a:effectLst/>
                </a:endParaRPr>
              </a:p>
              <a:p>
                <a:pPr/>
                <a:endParaRPr lang="en-GB" b="0" dirty="0">
                  <a:effectLst/>
                </a:endParaRPr>
              </a:p>
            </p:txBody>
          </p:sp>
        </mc:Choice>
        <mc:Fallback xmlns="">
          <p:sp>
            <p:nvSpPr>
              <p:cNvPr id="3" name="Notes Placeholder 2"/>
              <p:cNvSpPr>
                <a:spLocks noGrp="1"/>
              </p:cNvSpPr>
              <p:nvPr>
                <p:ph type="body" idx="1"/>
              </p:nvPr>
            </p:nvSpPr>
            <p:spPr/>
            <p:txBody>
              <a:bodyPr/>
              <a:lstStyle/>
              <a:p>
                <a:r>
                  <a:rPr lang="en-GB" dirty="0"/>
                  <a:t>In thermodynamics, a state function </a:t>
                </a:r>
                <a:r>
                  <a:rPr lang="en-GB" sz="1200" b="0" i="0" kern="1200" dirty="0">
                    <a:solidFill>
                      <a:schemeClr val="tx1"/>
                    </a:solidFill>
                    <a:effectLst/>
                    <a:latin typeface="+mn-lt"/>
                    <a:ea typeface="+mn-ea"/>
                    <a:cs typeface="+mn-cs"/>
                  </a:rPr>
                  <a:t>(or state variable) is </a:t>
                </a:r>
                <a:r>
                  <a:rPr lang="en-GB" dirty="0"/>
                  <a:t>a property of a system that depends </a:t>
                </a:r>
                <a:r>
                  <a:rPr lang="en-GB" i="1" dirty="0">
                    <a:effectLst/>
                  </a:rPr>
                  <a:t>only</a:t>
                </a:r>
                <a:r>
                  <a:rPr lang="en-GB" dirty="0"/>
                  <a:t> on its current condition (state), not on the path taken to reach that state. As solvation free energy is a state function,</a:t>
                </a:r>
                <a:r>
                  <a:rPr lang="en-GB" baseline="0" dirty="0"/>
                  <a:t> </a:t>
                </a:r>
                <a:r>
                  <a:rPr lang="en-GB" dirty="0"/>
                  <a:t>the computation of drug molecule</a:t>
                </a:r>
                <a:r>
                  <a:rPr lang="en-GB" baseline="0" dirty="0"/>
                  <a:t>’s w</a:t>
                </a:r>
                <a:r>
                  <a:rPr lang="en-GB" dirty="0"/>
                  <a:t>ater or octanol solvation free energy (</a:t>
                </a:r>
                <a:r>
                  <a:rPr lang="ar-AE" sz="1200" b="0" i="0" kern="1200">
                    <a:solidFill>
                      <a:schemeClr val="tx1"/>
                    </a:solidFill>
                    <a:latin typeface="+mn-lt"/>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ar-AE" sz="1200" b="0" i="0" kern="1200">
                    <a:solidFill>
                      <a:schemeClr val="tx1"/>
                    </a:solidFill>
                    <a:effectLst/>
                    <a:latin typeface="+mn-lt"/>
                    <a:ea typeface="+mn-ea"/>
                    <a:cs typeface="+mn-cs"/>
                  </a:rPr>
                  <a:t>" 〗_</a:t>
                </a:r>
                <a:r>
                  <a:rPr lang="en-GB" sz="1200" b="0" i="0" kern="1200">
                    <a:solidFill>
                      <a:schemeClr val="tx1"/>
                    </a:solidFill>
                    <a:effectLst/>
                    <a:latin typeface="+mn-lt"/>
                    <a:ea typeface="+mn-ea"/>
                    <a:cs typeface="+mn-cs"/>
                  </a:rPr>
                  <a:t>"</a:t>
                </a:r>
                <a:r>
                  <a:rPr lang="en-GB" b="0" i="0"/>
                  <a:t>solvation</a:t>
                </a:r>
                <a:r>
                  <a:rPr lang="ar-AE" sz="1200" b="0" i="0" kern="1200">
                    <a:solidFill>
                      <a:schemeClr val="tx1"/>
                    </a:solidFill>
                    <a:latin typeface="+mn-lt"/>
                    <a:ea typeface="+mn-ea"/>
                    <a:cs typeface="+mn-cs"/>
                  </a:rPr>
                  <a:t>" </a:t>
                </a:r>
                <a:r>
                  <a:rPr lang="en-GB" b="0" dirty="0">
                    <a:effectLst/>
                  </a:rPr>
                  <a:t>),</a:t>
                </a:r>
                <a:r>
                  <a:rPr lang="en-GB" b="0" baseline="0" dirty="0">
                    <a:effectLst/>
                  </a:rPr>
                  <a:t> which correspond to the introduction of drug into water/octanol environment can be achieved using the thermodynamics cycle above:</a:t>
                </a:r>
              </a:p>
              <a:p>
                <a:endParaRPr lang="en-GB" b="0" baseline="0" dirty="0">
                  <a:effectLst/>
                </a:endParaRPr>
              </a:p>
              <a:p>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a:t>
                </a:r>
                <a:r>
                  <a:rPr lang="en-GB" b="0" i="0"/>
                  <a:t>solvation</a:t>
                </a:r>
                <a:r>
                  <a:rPr lang="en-GB" b="0" i="0">
                    <a:latin typeface="Cambria Math" panose="02040503050406030204" pitchFamily="18" charset="0"/>
                  </a:rPr>
                  <a:t>"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"2"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 0 =&gt;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a:t>
                </a:r>
                <a:r>
                  <a:rPr lang="en-GB" b="0" i="0"/>
                  <a:t>solvation</a:t>
                </a:r>
                <a:r>
                  <a:rPr lang="en-GB" b="0" i="0">
                    <a:latin typeface="Cambria Math" panose="02040503050406030204" pitchFamily="18" charset="0"/>
                  </a:rPr>
                  <a:t>"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a:t>
                </a:r>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a:t>
                </a:r>
                <a:r>
                  <a:rPr lang="en-GB" b="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"2" </a:t>
                </a:r>
                <a:r>
                  <a:rPr lang="en-GB" b="0" dirty="0">
                    <a:effectLst/>
                  </a:rPr>
                  <a:t> = 0)</a:t>
                </a:r>
              </a:p>
              <a:p>
                <a:endParaRPr lang="en-GB" b="0" dirty="0">
                  <a:effectLst/>
                </a:endParaRPr>
              </a:p>
              <a:p>
                <a:r>
                  <a:rPr lang="en-GB" b="0" dirty="0">
                    <a:effectLst/>
                  </a:rPr>
                  <a:t>In the context of this research, by setting “couple-</a:t>
                </a:r>
                <a:r>
                  <a:rPr lang="en-GB" b="0" dirty="0" err="1">
                    <a:effectLst/>
                  </a:rPr>
                  <a:t>intramol</a:t>
                </a:r>
                <a:r>
                  <a:rPr lang="en-GB" b="0" dirty="0">
                    <a:effectLst/>
                  </a:rPr>
                  <a:t> = yes”, we turned off the intramolecular electrostatics + </a:t>
                </a:r>
                <a:r>
                  <a:rPr lang="en-GB" b="0" dirty="0" err="1">
                    <a:effectLst/>
                  </a:rPr>
                  <a:t>vdw</a:t>
                </a:r>
                <a:r>
                  <a:rPr lang="en-GB" b="0" dirty="0">
                    <a:effectLst/>
                  </a:rPr>
                  <a:t> interactions in the same degree as turning off the electrostatics + </a:t>
                </a:r>
                <a:r>
                  <a:rPr lang="en-GB" b="0" dirty="0" err="1">
                    <a:effectLst/>
                  </a:rPr>
                  <a:t>vdw</a:t>
                </a:r>
                <a:r>
                  <a:rPr lang="en-GB" b="0" dirty="0">
                    <a:effectLst/>
                  </a:rPr>
                  <a:t> of drug with the surrounding environment. Hence, when both the electrostatics + </a:t>
                </a:r>
                <a:r>
                  <a:rPr lang="en-GB" b="0" dirty="0" err="1">
                    <a:effectLst/>
                  </a:rPr>
                  <a:t>vdw</a:t>
                </a:r>
                <a:r>
                  <a:rPr lang="en-GB" b="0" dirty="0">
                    <a:effectLst/>
                  </a:rPr>
                  <a:t> interactions are totally off, it does not </a:t>
                </a:r>
                <a:r>
                  <a:rPr lang="en-GB" b="0" dirty="0" err="1">
                    <a:effectLst/>
                  </a:rPr>
                  <a:t>trully</a:t>
                </a:r>
                <a:r>
                  <a:rPr lang="en-GB" b="0" dirty="0">
                    <a:effectLst/>
                  </a:rPr>
                  <a:t> represent the drug molecule when in vacuum state. Instead, we called that state is like “Dummies in vacuum”. The two sub-folder “Water_hydration-in-parallel-abcg2_gaff2” and “Octanol_hydration-in-parallel-abcg2_gaff2” represent the transformation of drug molecule when in water and octanol solvents, respectively to the state when its all nonbonded interactions are off (“Dummies in vacuum, that what we called). The outcome numbers from “Water_hydration-in-parallel-abcg2_gaff2” and “Octanol_hydration-in-parallel-abcg2_gaff2” represents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(𝑊)</a:t>
                </a:r>
                <a:r>
                  <a:rPr lang="ar-AE" sz="1200" b="0" i="0" kern="1200">
                    <a:solidFill>
                      <a:schemeClr val="tx1"/>
                    </a:solidFill>
                    <a:effectLst/>
                    <a:latin typeface="Cambria Math" panose="02040503050406030204" pitchFamily="18" charset="0"/>
                    <a:ea typeface="+mn-ea"/>
                    <a:cs typeface="+mn-cs"/>
                  </a:rPr>
                  <a:t>)</a:t>
                </a:r>
                <a:r>
                  <a:rPr lang="en-GB" b="0" dirty="0">
                    <a:effectLst/>
                  </a:rPr>
                  <a:t> and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(𝑂𝑐𝑡) </a:t>
                </a:r>
                <a:r>
                  <a:rPr lang="ar-AE" sz="1200" b="0" i="0" kern="1200">
                    <a:solidFill>
                      <a:schemeClr val="tx1"/>
                    </a:solidFill>
                    <a:effectLst/>
                    <a:latin typeface="Cambria Math" panose="02040503050406030204" pitchFamily="18" charset="0"/>
                    <a:ea typeface="+mn-ea"/>
                    <a:cs typeface="+mn-cs"/>
                  </a:rPr>
                  <a:t>)</a:t>
                </a:r>
                <a:r>
                  <a:rPr lang="en-GB" b="0" dirty="0">
                    <a:effectLst/>
                  </a:rPr>
                  <a:t> in the thermodynamics cycle above. To achieve</a:t>
                </a:r>
                <a:r>
                  <a:rPr lang="en-GB" b="0" baseline="0" dirty="0">
                    <a:effectLst/>
                  </a:rPr>
                  <a:t> truly water and octanol solvation free energy, another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ar-AE" sz="1200" b="0" i="0" kern="1200">
                    <a:solidFill>
                      <a:schemeClr val="tx1"/>
                    </a:solidFill>
                    <a:effectLst/>
                    <a:latin typeface="Cambria Math" panose="02040503050406030204" pitchFamily="18" charset="0"/>
                    <a:ea typeface="+mn-ea"/>
                    <a:cs typeface="+mn-cs"/>
                  </a:rPr>
                  <a:t>)</a:t>
                </a:r>
                <a:r>
                  <a:rPr lang="en-GB" b="0" dirty="0">
                    <a:effectLst/>
                  </a:rPr>
                  <a:t>need to be</a:t>
                </a:r>
                <a:r>
                  <a:rPr lang="en-GB" b="0" baseline="0" dirty="0">
                    <a:effectLst/>
                  </a:rPr>
                  <a:t> computed. However, in the context of calculating </a:t>
                </a:r>
                <a:r>
                  <a:rPr lang="en-GB" b="0" baseline="0" dirty="0" err="1">
                    <a:effectLst/>
                  </a:rPr>
                  <a:t>logP</a:t>
                </a:r>
                <a:r>
                  <a:rPr lang="en-GB" b="0" baseline="0" dirty="0">
                    <a:effectLst/>
                  </a:rPr>
                  <a:t> value of drug molecule, this computation is not necessary.</a:t>
                </a:r>
              </a:p>
              <a:p>
                <a:endParaRPr lang="en-GB" b="0" baseline="0" dirty="0">
                  <a:effectLst/>
                </a:endParaRPr>
              </a:p>
              <a:p>
                <a:r>
                  <a:rPr lang="en-GB" b="0" baseline="0" dirty="0">
                    <a:effectLst/>
                  </a:rPr>
                  <a:t>To compute </a:t>
                </a:r>
                <a:r>
                  <a:rPr lang="en-GB" b="0" baseline="0" dirty="0" err="1">
                    <a:effectLst/>
                  </a:rPr>
                  <a:t>logP</a:t>
                </a:r>
                <a:r>
                  <a:rPr lang="en-GB" b="0" baseline="0" dirty="0">
                    <a:effectLst/>
                  </a:rPr>
                  <a:t> of drug molecule, we need to compute ΔG of water hydration free energy - ΔG of octanol solvent free energy (please refer to README document attached in this folder for full explanation),</a:t>
                </a:r>
              </a:p>
              <a:p>
                <a:endParaRPr lang="en-GB" b="0" baseline="0" dirty="0">
                  <a:effectLst/>
                </a:endParaRPr>
              </a:p>
              <a:p>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"water </a:t>
                </a:r>
                <a:r>
                  <a:rPr lang="en-GB" b="0" i="0"/>
                  <a:t>solvation</a:t>
                </a:r>
                <a:r>
                  <a:rPr lang="en-GB" b="0" i="0">
                    <a:latin typeface="Cambria Math" panose="02040503050406030204" pitchFamily="18" charset="0"/>
                  </a:rPr>
                  <a:t>" </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"octanol </a:t>
                </a:r>
                <a:r>
                  <a:rPr lang="en-GB" b="0" i="0"/>
                  <a:t>solvation</a:t>
                </a:r>
                <a:r>
                  <a:rPr lang="en-GB" b="0" i="0">
                    <a:latin typeface="Cambria Math" panose="02040503050406030204" pitchFamily="18" charset="0"/>
                  </a:rPr>
                  <a:t>" </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a:t>
                </a:r>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(𝑊)</a:t>
                </a:r>
                <a:r>
                  <a:rPr lang="ar-AE" sz="1200" b="0" i="0" kern="1200">
                    <a:solidFill>
                      <a:schemeClr val="tx1"/>
                    </a:solidFill>
                    <a:effectLst/>
                    <a:latin typeface="Cambria Math" panose="02040503050406030204" pitchFamily="18" charset="0"/>
                    <a:ea typeface="+mn-ea"/>
                    <a:cs typeface="+mn-cs"/>
                  </a:rPr>
                  <a:t>)</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a:t>
                </a:r>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(𝑂𝑐𝑡)</a:t>
                </a:r>
                <a:r>
                  <a:rPr lang="ar-AE" sz="1200" b="0" i="0" kern="1200">
                    <a:solidFill>
                      <a:schemeClr val="tx1"/>
                    </a:solidFill>
                    <a:effectLst/>
                    <a:latin typeface="Cambria Math" panose="02040503050406030204" pitchFamily="18" charset="0"/>
                    <a:ea typeface="+mn-ea"/>
                    <a:cs typeface="+mn-cs"/>
                  </a:rPr>
                  <a:t>)</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(𝑂𝑐𝑡)</a:t>
                </a:r>
                <a:r>
                  <a:rPr lang="ar-AE" sz="1200" b="0" i="0" kern="1200">
                    <a:solidFill>
                      <a:schemeClr val="tx1"/>
                    </a:solidFill>
                    <a:effectLst/>
                    <a:latin typeface="Cambria Math" panose="02040503050406030204" pitchFamily="18" charset="0"/>
                    <a:ea typeface="+mn-ea"/>
                    <a:cs typeface="+mn-cs"/>
                  </a:rPr>
                  <a:t>)</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(𝑊)</a:t>
                </a:r>
                <a:r>
                  <a:rPr lang="ar-AE" sz="1200" b="0" i="0" kern="1200">
                    <a:solidFill>
                      <a:schemeClr val="tx1"/>
                    </a:solidFill>
                    <a:effectLst/>
                    <a:latin typeface="Cambria Math" panose="02040503050406030204" pitchFamily="18" charset="0"/>
                    <a:ea typeface="+mn-ea"/>
                    <a:cs typeface="+mn-cs"/>
                  </a:rPr>
                  <a:t>)</a:t>
                </a:r>
                <a:r>
                  <a:rPr lang="en-GB" b="0" baseline="0" dirty="0">
                    <a:effectLst/>
                  </a:rPr>
                  <a:t> (as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baseline="0" dirty="0">
                    <a:effectLst/>
                  </a:rPr>
                  <a:t> cancelling out each other).</a:t>
                </a:r>
              </a:p>
              <a:p>
                <a:r>
                  <a:rPr lang="en-GB" b="0" baseline="0" dirty="0">
                    <a:effectLst/>
                  </a:rPr>
                  <a:t>				= (-82.77) - (-106.48) = 23.71 (kJ/mol)</a:t>
                </a:r>
              </a:p>
              <a:p>
                <a:endParaRPr lang="en-GB" b="0" baseline="0" dirty="0">
                  <a:effectLst/>
                </a:endParaRPr>
              </a:p>
              <a:p>
                <a:endParaRPr lang="en-GB" b="0" baseline="0" dirty="0">
                  <a:effectLst/>
                </a:endParaRPr>
              </a:p>
              <a:p>
                <a:r>
                  <a:rPr lang="en-GB" b="0" baseline="0" dirty="0" err="1">
                    <a:effectLst/>
                  </a:rPr>
                  <a:t>logP</a:t>
                </a:r>
                <a:r>
                  <a:rPr lang="en-GB" b="0" baseline="0" dirty="0">
                    <a:effectLst/>
                  </a:rPr>
                  <a:t> = 23.71 / 5.708 (value of RTln10 in kJ</a:t>
                </a:r>
                <a:r>
                  <a:rPr lang="en-GB" b="0" baseline="0">
                    <a:effectLst/>
                  </a:rPr>
                  <a:t>/mol) = ~ 4.154</a:t>
                </a:r>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r>
                  <a:rPr lang="en-GB" b="0" baseline="0" dirty="0">
                    <a:effectLst/>
                  </a:rPr>
                  <a:t>	</a:t>
                </a:r>
                <a:endParaRPr lang="en-GB" b="0" dirty="0">
                  <a:effectLst/>
                </a:endParaRPr>
              </a:p>
              <a:p>
                <a:endParaRPr lang="en-GB" b="0" dirty="0">
                  <a:effectLst/>
                </a:endParaRPr>
              </a:p>
              <a:p>
                <a:endParaRPr lang="en-GB" b="0" dirty="0">
                  <a:effectLst/>
                </a:endParaRPr>
              </a:p>
              <a:p>
                <a:endParaRPr lang="en-GB" b="0" dirty="0">
                  <a:effectLst/>
                </a:endParaRPr>
              </a:p>
              <a:p>
                <a:endParaRPr lang="en-GB" b="0" dirty="0">
                  <a:effectLst/>
                </a:endParaRPr>
              </a:p>
              <a:p>
                <a:endParaRPr lang="en-GB" sz="12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976973DE-6E76-4AAE-8734-B9E0797EA8DC}" type="slidenum">
              <a:rPr lang="en-FI" smtClean="0"/>
              <a:t>1</a:t>
            </a:fld>
            <a:endParaRPr lang="en-FI"/>
          </a:p>
        </p:txBody>
      </p:sp>
    </p:spTree>
    <p:extLst>
      <p:ext uri="{BB962C8B-B14F-4D97-AF65-F5344CB8AC3E}">
        <p14:creationId xmlns:p14="http://schemas.microsoft.com/office/powerpoint/2010/main" val="3080495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87DC3-EB63-A739-EFD2-44C4E0F85E7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I"/>
          </a:p>
        </p:txBody>
      </p:sp>
      <p:sp>
        <p:nvSpPr>
          <p:cNvPr id="3" name="Subtitle 2">
            <a:extLst>
              <a:ext uri="{FF2B5EF4-FFF2-40B4-BE49-F238E27FC236}">
                <a16:creationId xmlns:a16="http://schemas.microsoft.com/office/drawing/2014/main" id="{52E7D07C-EDCB-C794-577E-A311172807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I"/>
          </a:p>
        </p:txBody>
      </p:sp>
      <p:sp>
        <p:nvSpPr>
          <p:cNvPr id="4" name="Date Placeholder 3">
            <a:extLst>
              <a:ext uri="{FF2B5EF4-FFF2-40B4-BE49-F238E27FC236}">
                <a16:creationId xmlns:a16="http://schemas.microsoft.com/office/drawing/2014/main" id="{91C4253A-5FC6-209F-B8D5-F09839A14872}"/>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5" name="Footer Placeholder 4">
            <a:extLst>
              <a:ext uri="{FF2B5EF4-FFF2-40B4-BE49-F238E27FC236}">
                <a16:creationId xmlns:a16="http://schemas.microsoft.com/office/drawing/2014/main" id="{D2042C9C-0E44-F573-8B71-45A4DD276865}"/>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F47E11DE-078A-B691-521A-08B32A0D4C68}"/>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260096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41FD-C238-6AA3-B17F-1003DF4A2E79}"/>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1F07DAF8-0CB4-F597-F345-8A21613AEF6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4B2A705A-BC49-AD56-8450-60CEEA8C8785}"/>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5" name="Footer Placeholder 4">
            <a:extLst>
              <a:ext uri="{FF2B5EF4-FFF2-40B4-BE49-F238E27FC236}">
                <a16:creationId xmlns:a16="http://schemas.microsoft.com/office/drawing/2014/main" id="{0B60D3B2-0C63-D8FD-98F3-5EB38D1689B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BCD9960D-B996-F9FF-959A-04D7FAE1D2F5}"/>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3754634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FA3B-4D02-918F-7047-85DC0B8F09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I"/>
          </a:p>
        </p:txBody>
      </p:sp>
      <p:sp>
        <p:nvSpPr>
          <p:cNvPr id="3" name="Text Placeholder 2">
            <a:extLst>
              <a:ext uri="{FF2B5EF4-FFF2-40B4-BE49-F238E27FC236}">
                <a16:creationId xmlns:a16="http://schemas.microsoft.com/office/drawing/2014/main" id="{114CD1CE-22DF-C757-D384-77D4F54700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3FCE056-850A-18CA-1A4F-9BB3D1C96322}"/>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5" name="Footer Placeholder 4">
            <a:extLst>
              <a:ext uri="{FF2B5EF4-FFF2-40B4-BE49-F238E27FC236}">
                <a16:creationId xmlns:a16="http://schemas.microsoft.com/office/drawing/2014/main" id="{DE29F955-4D5C-A747-36AF-2E579E66131A}"/>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C2AEF27A-54AD-D5ED-3052-A0438857089D}"/>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313081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EA5E3-B9A1-4CCA-C89E-F99A23A346D0}"/>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3AB7DC7C-56CB-331D-CDE9-EE63ACC32A5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Content Placeholder 3">
            <a:extLst>
              <a:ext uri="{FF2B5EF4-FFF2-40B4-BE49-F238E27FC236}">
                <a16:creationId xmlns:a16="http://schemas.microsoft.com/office/drawing/2014/main" id="{6780C3DD-8AA9-A121-5544-ECA33AD8486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Date Placeholder 4">
            <a:extLst>
              <a:ext uri="{FF2B5EF4-FFF2-40B4-BE49-F238E27FC236}">
                <a16:creationId xmlns:a16="http://schemas.microsoft.com/office/drawing/2014/main" id="{813B7D14-8800-16D0-62C2-7FC9C69F22A4}"/>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6" name="Footer Placeholder 5">
            <a:extLst>
              <a:ext uri="{FF2B5EF4-FFF2-40B4-BE49-F238E27FC236}">
                <a16:creationId xmlns:a16="http://schemas.microsoft.com/office/drawing/2014/main" id="{00E4E3B3-6754-41A6-F35B-0839F3B00F40}"/>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98044E51-1A49-70D2-696E-D4A2225481DF}"/>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018491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BE64F-1C59-9D59-15C1-E7B8B4223E25}"/>
              </a:ext>
            </a:extLst>
          </p:cNvPr>
          <p:cNvSpPr>
            <a:spLocks noGrp="1"/>
          </p:cNvSpPr>
          <p:nvPr>
            <p:ph type="title"/>
          </p:nvPr>
        </p:nvSpPr>
        <p:spPr>
          <a:xfrm>
            <a:off x="839788" y="365125"/>
            <a:ext cx="10515600" cy="1325563"/>
          </a:xfrm>
        </p:spPr>
        <p:txBody>
          <a:bodyPr/>
          <a:lstStyle/>
          <a:p>
            <a:r>
              <a:rPr lang="en-GB"/>
              <a:t>Click to edit Master title style</a:t>
            </a:r>
            <a:endParaRPr lang="en-FI"/>
          </a:p>
        </p:txBody>
      </p:sp>
      <p:sp>
        <p:nvSpPr>
          <p:cNvPr id="3" name="Text Placeholder 2">
            <a:extLst>
              <a:ext uri="{FF2B5EF4-FFF2-40B4-BE49-F238E27FC236}">
                <a16:creationId xmlns:a16="http://schemas.microsoft.com/office/drawing/2014/main" id="{9F8A8212-F6CC-55D2-92E7-F1E0FC60D4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6DD8914-56B0-4DB0-164A-FA186C32A04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Text Placeholder 4">
            <a:extLst>
              <a:ext uri="{FF2B5EF4-FFF2-40B4-BE49-F238E27FC236}">
                <a16:creationId xmlns:a16="http://schemas.microsoft.com/office/drawing/2014/main" id="{47C80BE6-13AD-672A-15EE-CB2F70D6A2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704846C-3030-D5EE-BB4A-FAFA778801B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7" name="Date Placeholder 6">
            <a:extLst>
              <a:ext uri="{FF2B5EF4-FFF2-40B4-BE49-F238E27FC236}">
                <a16:creationId xmlns:a16="http://schemas.microsoft.com/office/drawing/2014/main" id="{0EE50A61-5BE4-8C64-041F-9957FC144643}"/>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8" name="Footer Placeholder 7">
            <a:extLst>
              <a:ext uri="{FF2B5EF4-FFF2-40B4-BE49-F238E27FC236}">
                <a16:creationId xmlns:a16="http://schemas.microsoft.com/office/drawing/2014/main" id="{DE034F62-D48D-A409-9748-4F51D9A74169}"/>
              </a:ext>
            </a:extLst>
          </p:cNvPr>
          <p:cNvSpPr>
            <a:spLocks noGrp="1"/>
          </p:cNvSpPr>
          <p:nvPr>
            <p:ph type="ftr" sz="quarter" idx="11"/>
          </p:nvPr>
        </p:nvSpPr>
        <p:spPr/>
        <p:txBody>
          <a:bodyPr/>
          <a:lstStyle/>
          <a:p>
            <a:endParaRPr lang="en-FI"/>
          </a:p>
        </p:txBody>
      </p:sp>
      <p:sp>
        <p:nvSpPr>
          <p:cNvPr id="9" name="Slide Number Placeholder 8">
            <a:extLst>
              <a:ext uri="{FF2B5EF4-FFF2-40B4-BE49-F238E27FC236}">
                <a16:creationId xmlns:a16="http://schemas.microsoft.com/office/drawing/2014/main" id="{0C0E8066-BB19-7B77-AA23-B429682335F9}"/>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264318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6655-629B-453C-98CA-AED4B6066EBF}"/>
              </a:ext>
            </a:extLst>
          </p:cNvPr>
          <p:cNvSpPr>
            <a:spLocks noGrp="1"/>
          </p:cNvSpPr>
          <p:nvPr>
            <p:ph type="title"/>
          </p:nvPr>
        </p:nvSpPr>
        <p:spPr/>
        <p:txBody>
          <a:bodyPr/>
          <a:lstStyle/>
          <a:p>
            <a:r>
              <a:rPr lang="en-GB"/>
              <a:t>Click to edit Master title style</a:t>
            </a:r>
            <a:endParaRPr lang="en-FI"/>
          </a:p>
        </p:txBody>
      </p:sp>
      <p:sp>
        <p:nvSpPr>
          <p:cNvPr id="3" name="Date Placeholder 2">
            <a:extLst>
              <a:ext uri="{FF2B5EF4-FFF2-40B4-BE49-F238E27FC236}">
                <a16:creationId xmlns:a16="http://schemas.microsoft.com/office/drawing/2014/main" id="{A1775B08-96CF-9305-8CFF-18D1EE6F6290}"/>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4" name="Footer Placeholder 3">
            <a:extLst>
              <a:ext uri="{FF2B5EF4-FFF2-40B4-BE49-F238E27FC236}">
                <a16:creationId xmlns:a16="http://schemas.microsoft.com/office/drawing/2014/main" id="{C304EA5F-73F0-7F4D-0BCF-B44DAA95E635}"/>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D3663813-4CD1-67BD-166A-FB4026756D5C}"/>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3764238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F24530-8042-6036-6F62-01B13B2B8521}"/>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3" name="Footer Placeholder 2">
            <a:extLst>
              <a:ext uri="{FF2B5EF4-FFF2-40B4-BE49-F238E27FC236}">
                <a16:creationId xmlns:a16="http://schemas.microsoft.com/office/drawing/2014/main" id="{10C8D4B7-7784-C0B8-7C10-8AE0C9BEA7AC}"/>
              </a:ext>
            </a:extLst>
          </p:cNvPr>
          <p:cNvSpPr>
            <a:spLocks noGrp="1"/>
          </p:cNvSpPr>
          <p:nvPr>
            <p:ph type="ftr" sz="quarter" idx="11"/>
          </p:nvPr>
        </p:nvSpPr>
        <p:spPr/>
        <p:txBody>
          <a:bodyPr/>
          <a:lstStyle/>
          <a:p>
            <a:endParaRPr lang="en-FI"/>
          </a:p>
        </p:txBody>
      </p:sp>
      <p:sp>
        <p:nvSpPr>
          <p:cNvPr id="4" name="Slide Number Placeholder 3">
            <a:extLst>
              <a:ext uri="{FF2B5EF4-FFF2-40B4-BE49-F238E27FC236}">
                <a16:creationId xmlns:a16="http://schemas.microsoft.com/office/drawing/2014/main" id="{84DF3AD2-7D7B-5621-B046-EEF444C62385}"/>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968187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F5E92-A539-2F10-E97F-A55428EBD1B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Content Placeholder 2">
            <a:extLst>
              <a:ext uri="{FF2B5EF4-FFF2-40B4-BE49-F238E27FC236}">
                <a16:creationId xmlns:a16="http://schemas.microsoft.com/office/drawing/2014/main" id="{588E7A90-92AD-B7D6-543C-07BECAF65F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Text Placeholder 3">
            <a:extLst>
              <a:ext uri="{FF2B5EF4-FFF2-40B4-BE49-F238E27FC236}">
                <a16:creationId xmlns:a16="http://schemas.microsoft.com/office/drawing/2014/main" id="{EB3CED37-C4CF-E9FC-851A-A9C75F6CD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AB4218-EF05-36C5-1609-87732EEE294D}"/>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6" name="Footer Placeholder 5">
            <a:extLst>
              <a:ext uri="{FF2B5EF4-FFF2-40B4-BE49-F238E27FC236}">
                <a16:creationId xmlns:a16="http://schemas.microsoft.com/office/drawing/2014/main" id="{81231DC2-7F23-C5EA-5DF5-177EB501E5A0}"/>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6D708F3B-C222-9C5B-71ED-68BC2B07FE2D}"/>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836604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86872-1FB6-D883-AB8C-E9D29DAE6C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Picture Placeholder 2">
            <a:extLst>
              <a:ext uri="{FF2B5EF4-FFF2-40B4-BE49-F238E27FC236}">
                <a16:creationId xmlns:a16="http://schemas.microsoft.com/office/drawing/2014/main" id="{29CA36A4-EEB9-CCDD-8A45-ABF312ADB7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I"/>
          </a:p>
        </p:txBody>
      </p:sp>
      <p:sp>
        <p:nvSpPr>
          <p:cNvPr id="4" name="Text Placeholder 3">
            <a:extLst>
              <a:ext uri="{FF2B5EF4-FFF2-40B4-BE49-F238E27FC236}">
                <a16:creationId xmlns:a16="http://schemas.microsoft.com/office/drawing/2014/main" id="{55F0569B-2A0A-F3B4-7555-7244D2711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DD1E594-2C58-3F2B-B7F2-A94AD12B7981}"/>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6" name="Footer Placeholder 5">
            <a:extLst>
              <a:ext uri="{FF2B5EF4-FFF2-40B4-BE49-F238E27FC236}">
                <a16:creationId xmlns:a16="http://schemas.microsoft.com/office/drawing/2014/main" id="{248385B4-D0A3-6A01-DFF1-6AD2EA99762C}"/>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85C59D9F-2DA8-D01F-091D-562E655BCDD6}"/>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248934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C495-96D1-A6E0-5361-CFDF328AD55C}"/>
              </a:ext>
            </a:extLst>
          </p:cNvPr>
          <p:cNvSpPr>
            <a:spLocks noGrp="1"/>
          </p:cNvSpPr>
          <p:nvPr>
            <p:ph type="title"/>
          </p:nvPr>
        </p:nvSpPr>
        <p:spPr/>
        <p:txBody>
          <a:bodyPr/>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3EA6FB71-34FD-87A6-CF56-8F09C4AF16F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DBA4F0CC-C69E-7ED9-AA3A-0072547E170B}"/>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5" name="Footer Placeholder 4">
            <a:extLst>
              <a:ext uri="{FF2B5EF4-FFF2-40B4-BE49-F238E27FC236}">
                <a16:creationId xmlns:a16="http://schemas.microsoft.com/office/drawing/2014/main" id="{92608F42-0D02-5524-1CE4-20FF6C455249}"/>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D5E0588D-C3A0-72E4-242C-4CD9E706C5B6}"/>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66088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ACEFF8-08EF-D235-7DFF-0043FA317DB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88FDE970-D7B1-1E43-609C-779756F4D22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69B2D2AD-A5FD-05DA-FC06-7CCC22A99659}"/>
              </a:ext>
            </a:extLst>
          </p:cNvPr>
          <p:cNvSpPr>
            <a:spLocks noGrp="1"/>
          </p:cNvSpPr>
          <p:nvPr>
            <p:ph type="dt" sz="half" idx="10"/>
          </p:nvPr>
        </p:nvSpPr>
        <p:spPr/>
        <p:txBody>
          <a:bodyPr/>
          <a:lstStyle/>
          <a:p>
            <a:fld id="{09D37EF4-754B-430E-B491-29BCE9712ADF}" type="datetimeFigureOut">
              <a:rPr lang="en-FI" smtClean="0"/>
              <a:t>21/12/2025</a:t>
            </a:fld>
            <a:endParaRPr lang="en-FI"/>
          </a:p>
        </p:txBody>
      </p:sp>
      <p:sp>
        <p:nvSpPr>
          <p:cNvPr id="5" name="Footer Placeholder 4">
            <a:extLst>
              <a:ext uri="{FF2B5EF4-FFF2-40B4-BE49-F238E27FC236}">
                <a16:creationId xmlns:a16="http://schemas.microsoft.com/office/drawing/2014/main" id="{99E50879-E10E-1F78-B13F-B0333376A0E9}"/>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07AC7FD2-B294-D844-5BC6-36EE0E365E63}"/>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27815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7FE85A-E17A-F3E5-2643-C568D2E06E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I"/>
          </a:p>
        </p:txBody>
      </p:sp>
      <p:sp>
        <p:nvSpPr>
          <p:cNvPr id="3" name="Text Placeholder 2">
            <a:extLst>
              <a:ext uri="{FF2B5EF4-FFF2-40B4-BE49-F238E27FC236}">
                <a16:creationId xmlns:a16="http://schemas.microsoft.com/office/drawing/2014/main" id="{9A9DD1D5-2FFC-6EAC-FF95-0B4C976B5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520CADD8-1C81-F2B2-D757-371325386A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D37EF4-754B-430E-B491-29BCE9712ADF}" type="datetimeFigureOut">
              <a:rPr lang="en-FI" smtClean="0"/>
              <a:t>21/12/2025</a:t>
            </a:fld>
            <a:endParaRPr lang="en-FI"/>
          </a:p>
        </p:txBody>
      </p:sp>
      <p:sp>
        <p:nvSpPr>
          <p:cNvPr id="5" name="Footer Placeholder 4">
            <a:extLst>
              <a:ext uri="{FF2B5EF4-FFF2-40B4-BE49-F238E27FC236}">
                <a16:creationId xmlns:a16="http://schemas.microsoft.com/office/drawing/2014/main" id="{73F3FBF7-0EC4-2427-F881-A3324D0391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I"/>
          </a:p>
        </p:txBody>
      </p:sp>
      <p:sp>
        <p:nvSpPr>
          <p:cNvPr id="6" name="Slide Number Placeholder 5">
            <a:extLst>
              <a:ext uri="{FF2B5EF4-FFF2-40B4-BE49-F238E27FC236}">
                <a16:creationId xmlns:a16="http://schemas.microsoft.com/office/drawing/2014/main" id="{FE59A621-0B21-DBA6-6D0A-680199552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A3380C-6BC6-4331-B472-971007E22E18}" type="slidenum">
              <a:rPr lang="en-FI" smtClean="0"/>
              <a:t>‹#›</a:t>
            </a:fld>
            <a:endParaRPr lang="en-FI"/>
          </a:p>
        </p:txBody>
      </p:sp>
    </p:spTree>
    <p:extLst>
      <p:ext uri="{BB962C8B-B14F-4D97-AF65-F5344CB8AC3E}">
        <p14:creationId xmlns:p14="http://schemas.microsoft.com/office/powerpoint/2010/main" val="611898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a:extLst>
              <a:ext uri="{FF2B5EF4-FFF2-40B4-BE49-F238E27FC236}">
                <a16:creationId xmlns:a16="http://schemas.microsoft.com/office/drawing/2014/main" id="{44342BB5-7B2C-2657-B198-0824C223F4DF}"/>
              </a:ext>
            </a:extLst>
          </p:cNvPr>
          <p:cNvSpPr/>
          <p:nvPr/>
        </p:nvSpPr>
        <p:spPr>
          <a:xfrm>
            <a:off x="816426" y="4510596"/>
            <a:ext cx="3407230" cy="2155371"/>
          </a:xfrm>
          <a:prstGeom prst="triangl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 name="TextBox 4">
            <a:extLst>
              <a:ext uri="{FF2B5EF4-FFF2-40B4-BE49-F238E27FC236}">
                <a16:creationId xmlns:a16="http://schemas.microsoft.com/office/drawing/2014/main" id="{14068B41-3D7D-A605-3D10-4C9004AEB77C}"/>
              </a:ext>
            </a:extLst>
          </p:cNvPr>
          <p:cNvSpPr txBox="1"/>
          <p:nvPr/>
        </p:nvSpPr>
        <p:spPr>
          <a:xfrm>
            <a:off x="1521278" y="5416820"/>
            <a:ext cx="2013857"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Dummies in </a:t>
            </a:r>
            <a:r>
              <a:rPr lang="en-GB" sz="2500" b="1" dirty="0" err="1">
                <a:solidFill>
                  <a:schemeClr val="bg1"/>
                </a:solidFill>
                <a:latin typeface="Palatino Linotype" panose="02040502050505030304" pitchFamily="18" charset="0"/>
                <a:cs typeface="Times New Roman" panose="02020603050405020304" pitchFamily="18" charset="0"/>
              </a:rPr>
              <a:t>vaccum</a:t>
            </a:r>
            <a:endParaRPr lang="en-FI" sz="2500" b="1" dirty="0">
              <a:solidFill>
                <a:schemeClr val="bg1"/>
              </a:solidFill>
              <a:latin typeface="Palatino Linotype" panose="0204050205050503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2B28AA3-536D-8A2A-72CA-71A48B529860}"/>
              </a:ext>
            </a:extLst>
          </p:cNvPr>
          <p:cNvSpPr/>
          <p:nvPr/>
        </p:nvSpPr>
        <p:spPr>
          <a:xfrm>
            <a:off x="1028698" y="571519"/>
            <a:ext cx="2982687" cy="202474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TextBox 6">
            <a:extLst>
              <a:ext uri="{FF2B5EF4-FFF2-40B4-BE49-F238E27FC236}">
                <a16:creationId xmlns:a16="http://schemas.microsoft.com/office/drawing/2014/main" id="{B076632D-5EC1-CF35-7654-D0A95FF33F6A}"/>
              </a:ext>
            </a:extLst>
          </p:cNvPr>
          <p:cNvSpPr txBox="1"/>
          <p:nvPr/>
        </p:nvSpPr>
        <p:spPr>
          <a:xfrm>
            <a:off x="1403565" y="1043485"/>
            <a:ext cx="2220688"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Drug in water solvent</a:t>
            </a:r>
            <a:endParaRPr lang="en-FI" sz="2500" b="1" dirty="0">
              <a:solidFill>
                <a:schemeClr val="bg1"/>
              </a:solidFill>
              <a:latin typeface="Palatino Linotype" panose="0204050205050503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83C1E853-48A5-CAC7-E2F3-CB1AB603FF79}"/>
              </a:ext>
            </a:extLst>
          </p:cNvPr>
          <p:cNvCxnSpPr>
            <a:cxnSpLocks/>
          </p:cNvCxnSpPr>
          <p:nvPr/>
        </p:nvCxnSpPr>
        <p:spPr>
          <a:xfrm flipV="1">
            <a:off x="2503695" y="2862953"/>
            <a:ext cx="0" cy="1417863"/>
          </a:xfrm>
          <a:prstGeom prst="straightConnector1">
            <a:avLst/>
          </a:prstGeom>
          <a:ln w="38100">
            <a:solidFill>
              <a:schemeClr val="tx1">
                <a:lumMod val="95000"/>
                <a:lumOff val="5000"/>
              </a:schemeClr>
            </a:solidFill>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D6EE4D-92CC-288E-03CE-C9C88D89B800}"/>
                  </a:ext>
                </a:extLst>
              </p:cNvPr>
              <p:cNvSpPr txBox="1"/>
              <p:nvPr/>
            </p:nvSpPr>
            <p:spPr>
              <a:xfrm>
                <a:off x="816426" y="3377247"/>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1</m:t>
                          </m:r>
                        </m:sub>
                      </m:sSub>
                    </m:oMath>
                  </m:oMathPara>
                </a14:m>
                <a:endParaRPr lang="en-FI" sz="3000" dirty="0"/>
              </a:p>
            </p:txBody>
          </p:sp>
        </mc:Choice>
        <mc:Fallback xmlns="">
          <p:sp>
            <p:nvSpPr>
              <p:cNvPr id="10" name="TextBox 9">
                <a:extLst>
                  <a:ext uri="{FF2B5EF4-FFF2-40B4-BE49-F238E27FC236}">
                    <a16:creationId xmlns:a16="http://schemas.microsoft.com/office/drawing/2014/main" id="{53D6EE4D-92CC-288E-03CE-C9C88D89B800}"/>
                  </a:ext>
                </a:extLst>
              </p:cNvPr>
              <p:cNvSpPr txBox="1">
                <a:spLocks noRot="1" noChangeAspect="1" noMove="1" noResize="1" noEditPoints="1" noAdjustHandles="1" noChangeArrowheads="1" noChangeShapeType="1" noTextEdit="1"/>
              </p:cNvSpPr>
              <p:nvPr/>
            </p:nvSpPr>
            <p:spPr>
              <a:xfrm>
                <a:off x="816426" y="3377247"/>
                <a:ext cx="1578415" cy="553998"/>
              </a:xfrm>
              <a:prstGeom prst="rect">
                <a:avLst/>
              </a:prstGeom>
              <a:blipFill>
                <a:blip r:embed="rId3"/>
                <a:stretch>
                  <a:fillRect/>
                </a:stretch>
              </a:blipFill>
            </p:spPr>
            <p:txBody>
              <a:bodyPr/>
              <a:lstStyle/>
              <a:p>
                <a:r>
                  <a:rPr lang="en-FI">
                    <a:noFill/>
                  </a:rPr>
                  <a:t> </a:t>
                </a:r>
              </a:p>
            </p:txBody>
          </p:sp>
        </mc:Fallback>
      </mc:AlternateContent>
      <p:sp>
        <p:nvSpPr>
          <p:cNvPr id="17" name="Rectangle: Rounded Corners 16">
            <a:extLst>
              <a:ext uri="{FF2B5EF4-FFF2-40B4-BE49-F238E27FC236}">
                <a16:creationId xmlns:a16="http://schemas.microsoft.com/office/drawing/2014/main" id="{884ACEAD-309E-1237-CEA9-8A4B70A22797}"/>
              </a:ext>
            </a:extLst>
          </p:cNvPr>
          <p:cNvSpPr/>
          <p:nvPr/>
        </p:nvSpPr>
        <p:spPr>
          <a:xfrm>
            <a:off x="7581901" y="571519"/>
            <a:ext cx="2982687" cy="2024743"/>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8" name="TextBox 17">
            <a:extLst>
              <a:ext uri="{FF2B5EF4-FFF2-40B4-BE49-F238E27FC236}">
                <a16:creationId xmlns:a16="http://schemas.microsoft.com/office/drawing/2014/main" id="{D3A6E048-0C13-DA7F-6045-BD7A634CB326}"/>
              </a:ext>
            </a:extLst>
          </p:cNvPr>
          <p:cNvSpPr txBox="1"/>
          <p:nvPr/>
        </p:nvSpPr>
        <p:spPr>
          <a:xfrm>
            <a:off x="7810500" y="1043484"/>
            <a:ext cx="2661557"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Drug in DMPC membrane</a:t>
            </a:r>
            <a:endParaRPr lang="en-FI" sz="2500" b="1" dirty="0">
              <a:solidFill>
                <a:schemeClr val="bg1"/>
              </a:solidFill>
              <a:latin typeface="Palatino Linotype" panose="02040502050505030304" pitchFamily="18"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id="{A6A38100-061A-2214-AC75-B3C1ECE17018}"/>
              </a:ext>
            </a:extLst>
          </p:cNvPr>
          <p:cNvCxnSpPr/>
          <p:nvPr/>
        </p:nvCxnSpPr>
        <p:spPr>
          <a:xfrm>
            <a:off x="4223656" y="1589314"/>
            <a:ext cx="3265715"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82019CB-8315-D144-F924-F360BC6E5456}"/>
              </a:ext>
            </a:extLst>
          </p:cNvPr>
          <p:cNvCxnSpPr/>
          <p:nvPr/>
        </p:nvCxnSpPr>
        <p:spPr>
          <a:xfrm>
            <a:off x="4223656" y="5715000"/>
            <a:ext cx="3265715"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Isosceles Triangle 1">
            <a:extLst>
              <a:ext uri="{FF2B5EF4-FFF2-40B4-BE49-F238E27FC236}">
                <a16:creationId xmlns:a16="http://schemas.microsoft.com/office/drawing/2014/main" id="{9954C2FA-76B5-F2A8-AEB7-1A346D0066B2}"/>
              </a:ext>
            </a:extLst>
          </p:cNvPr>
          <p:cNvSpPr/>
          <p:nvPr/>
        </p:nvSpPr>
        <p:spPr>
          <a:xfrm>
            <a:off x="7429499" y="4506685"/>
            <a:ext cx="3407230" cy="2155371"/>
          </a:xfrm>
          <a:prstGeom prst="triangl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TextBox 2">
            <a:extLst>
              <a:ext uri="{FF2B5EF4-FFF2-40B4-BE49-F238E27FC236}">
                <a16:creationId xmlns:a16="http://schemas.microsoft.com/office/drawing/2014/main" id="{31D8209B-CCC3-7DEE-3DCF-0E5226687BF8}"/>
              </a:ext>
            </a:extLst>
          </p:cNvPr>
          <p:cNvSpPr txBox="1"/>
          <p:nvPr/>
        </p:nvSpPr>
        <p:spPr>
          <a:xfrm>
            <a:off x="8134351" y="5412909"/>
            <a:ext cx="2013857"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Dummies in </a:t>
            </a:r>
            <a:r>
              <a:rPr lang="en-GB" sz="2500" b="1" dirty="0" err="1">
                <a:solidFill>
                  <a:schemeClr val="bg1"/>
                </a:solidFill>
                <a:latin typeface="Palatino Linotype" panose="02040502050505030304" pitchFamily="18" charset="0"/>
                <a:cs typeface="Times New Roman" panose="02020603050405020304" pitchFamily="18" charset="0"/>
              </a:rPr>
              <a:t>vaccum</a:t>
            </a:r>
            <a:endParaRPr lang="en-FI" sz="2500" b="1" dirty="0">
              <a:solidFill>
                <a:schemeClr val="bg1"/>
              </a:solidFill>
              <a:latin typeface="Palatino Linotype" panose="0204050205050503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C3B6C68-138F-182E-A922-1E7A95641F96}"/>
                  </a:ext>
                </a:extLst>
              </p:cNvPr>
              <p:cNvSpPr txBox="1"/>
              <p:nvPr/>
            </p:nvSpPr>
            <p:spPr>
              <a:xfrm>
                <a:off x="9133114" y="3377247"/>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3</m:t>
                          </m:r>
                        </m:sub>
                      </m:sSub>
                    </m:oMath>
                  </m:oMathPara>
                </a14:m>
                <a:endParaRPr lang="en-FI" sz="3000" dirty="0"/>
              </a:p>
            </p:txBody>
          </p:sp>
        </mc:Choice>
        <mc:Fallback xmlns="">
          <p:sp>
            <p:nvSpPr>
              <p:cNvPr id="13" name="TextBox 12">
                <a:extLst>
                  <a:ext uri="{FF2B5EF4-FFF2-40B4-BE49-F238E27FC236}">
                    <a16:creationId xmlns:a16="http://schemas.microsoft.com/office/drawing/2014/main" id="{4C3B6C68-138F-182E-A922-1E7A95641F96}"/>
                  </a:ext>
                </a:extLst>
              </p:cNvPr>
              <p:cNvSpPr txBox="1">
                <a:spLocks noRot="1" noChangeAspect="1" noMove="1" noResize="1" noEditPoints="1" noAdjustHandles="1" noChangeArrowheads="1" noChangeShapeType="1" noTextEdit="1"/>
              </p:cNvSpPr>
              <p:nvPr/>
            </p:nvSpPr>
            <p:spPr>
              <a:xfrm>
                <a:off x="9133114" y="3377247"/>
                <a:ext cx="1578415" cy="553998"/>
              </a:xfrm>
              <a:prstGeom prst="rect">
                <a:avLst/>
              </a:prstGeom>
              <a:blipFill>
                <a:blip r:embed="rId4"/>
                <a:stretch>
                  <a:fillRect/>
                </a:stretch>
              </a:blipFill>
            </p:spPr>
            <p:txBody>
              <a:bodyPr/>
              <a:lstStyle/>
              <a:p>
                <a:r>
                  <a:rPr lang="en-FI">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9BC4AC6-6D51-E249-2B89-4C59518E9F55}"/>
                  </a:ext>
                </a:extLst>
              </p:cNvPr>
              <p:cNvSpPr txBox="1"/>
              <p:nvPr/>
            </p:nvSpPr>
            <p:spPr>
              <a:xfrm>
                <a:off x="5114932" y="5097641"/>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2</m:t>
                          </m:r>
                        </m:sub>
                      </m:sSub>
                    </m:oMath>
                  </m:oMathPara>
                </a14:m>
                <a:endParaRPr lang="en-FI" sz="3000" dirty="0"/>
              </a:p>
            </p:txBody>
          </p:sp>
        </mc:Choice>
        <mc:Fallback xmlns="">
          <p:sp>
            <p:nvSpPr>
              <p:cNvPr id="14" name="TextBox 13">
                <a:extLst>
                  <a:ext uri="{FF2B5EF4-FFF2-40B4-BE49-F238E27FC236}">
                    <a16:creationId xmlns:a16="http://schemas.microsoft.com/office/drawing/2014/main" id="{69BC4AC6-6D51-E249-2B89-4C59518E9F55}"/>
                  </a:ext>
                </a:extLst>
              </p:cNvPr>
              <p:cNvSpPr txBox="1">
                <a:spLocks noRot="1" noChangeAspect="1" noMove="1" noResize="1" noEditPoints="1" noAdjustHandles="1" noChangeArrowheads="1" noChangeShapeType="1" noTextEdit="1"/>
              </p:cNvSpPr>
              <p:nvPr/>
            </p:nvSpPr>
            <p:spPr>
              <a:xfrm>
                <a:off x="5114932" y="5097641"/>
                <a:ext cx="1578415" cy="553998"/>
              </a:xfrm>
              <a:prstGeom prst="rect">
                <a:avLst/>
              </a:prstGeom>
              <a:blipFill>
                <a:blip r:embed="rId5"/>
                <a:stretch>
                  <a:fillRect/>
                </a:stretch>
              </a:blipFill>
            </p:spPr>
            <p:txBody>
              <a:bodyPr/>
              <a:lstStyle/>
              <a:p>
                <a:r>
                  <a:rPr lang="en-FI">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C99BF46-4EA3-13CB-0886-F398265C282F}"/>
                  </a:ext>
                </a:extLst>
              </p:cNvPr>
              <p:cNvSpPr txBox="1"/>
              <p:nvPr/>
            </p:nvSpPr>
            <p:spPr>
              <a:xfrm>
                <a:off x="5007435" y="971955"/>
                <a:ext cx="1578415" cy="590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𝑡𝑟𝑎𝑛𝑠𝑓𝑒𝑟</m:t>
                          </m:r>
                        </m:sub>
                      </m:sSub>
                    </m:oMath>
                  </m:oMathPara>
                </a14:m>
                <a:endParaRPr lang="en-FI" sz="3000" dirty="0"/>
              </a:p>
            </p:txBody>
          </p:sp>
        </mc:Choice>
        <mc:Fallback xmlns="">
          <p:sp>
            <p:nvSpPr>
              <p:cNvPr id="21" name="TextBox 20">
                <a:extLst>
                  <a:ext uri="{FF2B5EF4-FFF2-40B4-BE49-F238E27FC236}">
                    <a16:creationId xmlns:a16="http://schemas.microsoft.com/office/drawing/2014/main" id="{FC99BF46-4EA3-13CB-0886-F398265C282F}"/>
                  </a:ext>
                </a:extLst>
              </p:cNvPr>
              <p:cNvSpPr txBox="1">
                <a:spLocks noRot="1" noChangeAspect="1" noMove="1" noResize="1" noEditPoints="1" noAdjustHandles="1" noChangeArrowheads="1" noChangeShapeType="1" noTextEdit="1"/>
              </p:cNvSpPr>
              <p:nvPr/>
            </p:nvSpPr>
            <p:spPr>
              <a:xfrm>
                <a:off x="5007435" y="971955"/>
                <a:ext cx="1578415" cy="590996"/>
              </a:xfrm>
              <a:prstGeom prst="rect">
                <a:avLst/>
              </a:prstGeom>
              <a:blipFill>
                <a:blip r:embed="rId6"/>
                <a:stretch>
                  <a:fillRect r="-13127"/>
                </a:stretch>
              </a:blipFill>
            </p:spPr>
            <p:txBody>
              <a:bodyPr/>
              <a:lstStyle/>
              <a:p>
                <a:r>
                  <a:rPr lang="en-FI">
                    <a:noFill/>
                  </a:rPr>
                  <a:t> </a:t>
                </a:r>
              </a:p>
            </p:txBody>
          </p:sp>
        </mc:Fallback>
      </mc:AlternateContent>
      <p:cxnSp>
        <p:nvCxnSpPr>
          <p:cNvPr id="15" name="Straight Arrow Connector 14">
            <a:extLst>
              <a:ext uri="{FF2B5EF4-FFF2-40B4-BE49-F238E27FC236}">
                <a16:creationId xmlns:a16="http://schemas.microsoft.com/office/drawing/2014/main" id="{3A3E68C1-23C5-2F34-E751-E6D859EF9BC0}"/>
              </a:ext>
            </a:extLst>
          </p:cNvPr>
          <p:cNvCxnSpPr>
            <a:cxnSpLocks/>
          </p:cNvCxnSpPr>
          <p:nvPr/>
        </p:nvCxnSpPr>
        <p:spPr>
          <a:xfrm flipV="1">
            <a:off x="9089552" y="2862953"/>
            <a:ext cx="0" cy="1417863"/>
          </a:xfrm>
          <a:prstGeom prst="straightConnector1">
            <a:avLst/>
          </a:prstGeom>
          <a:ln w="38100">
            <a:solidFill>
              <a:schemeClr val="tx1">
                <a:lumMod val="95000"/>
                <a:lumOff val="5000"/>
              </a:schemeClr>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133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398</TotalTime>
  <Words>152</Words>
  <Application>Microsoft Office PowerPoint</Application>
  <PresentationFormat>Widescreen</PresentationFormat>
  <Paragraphs>17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Cambria Math</vt:lpstr>
      <vt:lpstr>Palatino Linotype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Quoc Bao Ngo</dc:creator>
  <cp:lastModifiedBy>Bao Ngo</cp:lastModifiedBy>
  <cp:revision>13</cp:revision>
  <dcterms:created xsi:type="dcterms:W3CDTF">2024-04-06T20:34:11Z</dcterms:created>
  <dcterms:modified xsi:type="dcterms:W3CDTF">2025-12-21T16:05:41Z</dcterms:modified>
</cp:coreProperties>
</file>